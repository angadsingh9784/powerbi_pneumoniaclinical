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Comic Sans Bold" charset="1" panose="03000902030302020204"/>
      <p:regular r:id="rId21"/>
    </p:embeddedFont>
    <p:embeddedFont>
      <p:font typeface="Comic Sans" charset="1" panose="03000702030302020204"/>
      <p:regular r:id="rId22"/>
    </p:embeddedFont>
    <p:embeddedFont>
      <p:font typeface="Hangyaboly" charset="1" panose="00000500000000000000"/>
      <p:regular r:id="rId23"/>
    </p:embeddedFont>
    <p:embeddedFont>
      <p:font typeface="Libre Franklin Heavy" charset="1" panose="00000A00000000000000"/>
      <p:regular r:id="rId24"/>
    </p:embeddedFont>
    <p:embeddedFont>
      <p:font typeface="Be Vietnam Ultra-Bold" charset="1" panose="000009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2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31.svg" Type="http://schemas.openxmlformats.org/officeDocument/2006/relationships/image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VAGkMMwtSg0.mp4" Type="http://schemas.microsoft.com/office/2007/relationships/media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33.jpeg" Type="http://schemas.openxmlformats.org/officeDocument/2006/relationships/image"/><Relationship Id="rId9" Target="../media/VAGkMMwtSg0.mp4" Type="http://schemas.openxmlformats.org/officeDocument/2006/relationships/video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34.gif" Type="http://schemas.openxmlformats.org/officeDocument/2006/relationships/image"/><Relationship Id="rId9" Target="../media/image3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34.gif" Type="http://schemas.openxmlformats.org/officeDocument/2006/relationships/image"/><Relationship Id="rId9" Target="../media/image3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765018" y="215096"/>
            <a:ext cx="12757963" cy="3201089"/>
          </a:xfrm>
          <a:custGeom>
            <a:avLst/>
            <a:gdLst/>
            <a:ahLst/>
            <a:cxnLst/>
            <a:rect r="r" b="b" t="t" l="l"/>
            <a:pathLst>
              <a:path h="3201089" w="12757963">
                <a:moveTo>
                  <a:pt x="0" y="0"/>
                </a:moveTo>
                <a:lnTo>
                  <a:pt x="12757964" y="0"/>
                </a:lnTo>
                <a:lnTo>
                  <a:pt x="12757964" y="3201089"/>
                </a:lnTo>
                <a:lnTo>
                  <a:pt x="0" y="32010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735507">
            <a:off x="2063734" y="5485465"/>
            <a:ext cx="1983683" cy="2208554"/>
          </a:xfrm>
          <a:custGeom>
            <a:avLst/>
            <a:gdLst/>
            <a:ahLst/>
            <a:cxnLst/>
            <a:rect r="r" b="b" t="t" l="l"/>
            <a:pathLst>
              <a:path h="2208554" w="1983683">
                <a:moveTo>
                  <a:pt x="0" y="0"/>
                </a:moveTo>
                <a:lnTo>
                  <a:pt x="1983683" y="0"/>
                </a:lnTo>
                <a:lnTo>
                  <a:pt x="1983683" y="2208554"/>
                </a:lnTo>
                <a:lnTo>
                  <a:pt x="0" y="22085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00821"/>
            <a:ext cx="16230600" cy="26199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23"/>
              </a:lnSpc>
            </a:pPr>
            <a:r>
              <a:rPr lang="en-US" b="true" sz="5023" spc="20">
                <a:solidFill>
                  <a:srgbClr val="C94827"/>
                </a:solidFill>
                <a:latin typeface="Comic Sans Bold"/>
                <a:ea typeface="Comic Sans Bold"/>
                <a:cs typeface="Comic Sans Bold"/>
                <a:sym typeface="Comic Sans Bold"/>
              </a:rPr>
              <a:t>REVOLUTIONIZING PNEUMONIA DIAGNOSIS:</a:t>
            </a:r>
            <a:r>
              <a:rPr lang="en-US" sz="5023" spc="20">
                <a:solidFill>
                  <a:srgbClr val="C94827"/>
                </a:solidFill>
                <a:latin typeface="Comic Sans"/>
                <a:ea typeface="Comic Sans"/>
                <a:cs typeface="Comic Sans"/>
                <a:sym typeface="Comic Sans"/>
              </a:rPr>
              <a:t> HARNESSING THE POWER OF DEEP LEARNING TO PREDICT PNEUMONIA FROM X-RAY IMAGES WITH PRECISION AND SPEED.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133383" y="2967701"/>
            <a:ext cx="12389599" cy="8259732"/>
          </a:xfrm>
          <a:custGeom>
            <a:avLst/>
            <a:gdLst/>
            <a:ahLst/>
            <a:cxnLst/>
            <a:rect r="r" b="b" t="t" l="l"/>
            <a:pathLst>
              <a:path h="8259732" w="12389599">
                <a:moveTo>
                  <a:pt x="0" y="0"/>
                </a:moveTo>
                <a:lnTo>
                  <a:pt x="12389599" y="0"/>
                </a:lnTo>
                <a:lnTo>
                  <a:pt x="12389599" y="8259732"/>
                </a:lnTo>
                <a:lnTo>
                  <a:pt x="0" y="82597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735507">
            <a:off x="370963" y="8154023"/>
            <a:ext cx="1983683" cy="2208554"/>
          </a:xfrm>
          <a:custGeom>
            <a:avLst/>
            <a:gdLst/>
            <a:ahLst/>
            <a:cxnLst/>
            <a:rect r="r" b="b" t="t" l="l"/>
            <a:pathLst>
              <a:path h="2208554" w="1983683">
                <a:moveTo>
                  <a:pt x="0" y="0"/>
                </a:moveTo>
                <a:lnTo>
                  <a:pt x="1983683" y="0"/>
                </a:lnTo>
                <a:lnTo>
                  <a:pt x="1983683" y="2208554"/>
                </a:lnTo>
                <a:lnTo>
                  <a:pt x="0" y="22085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735507">
            <a:off x="17335567" y="8652086"/>
            <a:ext cx="1983683" cy="2208554"/>
          </a:xfrm>
          <a:custGeom>
            <a:avLst/>
            <a:gdLst/>
            <a:ahLst/>
            <a:cxnLst/>
            <a:rect r="r" b="b" t="t" l="l"/>
            <a:pathLst>
              <a:path h="2208554" w="1983683">
                <a:moveTo>
                  <a:pt x="0" y="0"/>
                </a:moveTo>
                <a:lnTo>
                  <a:pt x="1983683" y="0"/>
                </a:lnTo>
                <a:lnTo>
                  <a:pt x="1983683" y="2208554"/>
                </a:lnTo>
                <a:lnTo>
                  <a:pt x="0" y="22085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735507">
            <a:off x="15368473" y="1816450"/>
            <a:ext cx="1983683" cy="2208554"/>
          </a:xfrm>
          <a:custGeom>
            <a:avLst/>
            <a:gdLst/>
            <a:ahLst/>
            <a:cxnLst/>
            <a:rect r="r" b="b" t="t" l="l"/>
            <a:pathLst>
              <a:path h="2208554" w="1983683">
                <a:moveTo>
                  <a:pt x="0" y="0"/>
                </a:moveTo>
                <a:lnTo>
                  <a:pt x="1983683" y="0"/>
                </a:lnTo>
                <a:lnTo>
                  <a:pt x="1983683" y="2208554"/>
                </a:lnTo>
                <a:lnTo>
                  <a:pt x="0" y="22085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735507">
            <a:off x="36858" y="3557544"/>
            <a:ext cx="1983683" cy="2208554"/>
          </a:xfrm>
          <a:custGeom>
            <a:avLst/>
            <a:gdLst/>
            <a:ahLst/>
            <a:cxnLst/>
            <a:rect r="r" b="b" t="t" l="l"/>
            <a:pathLst>
              <a:path h="2208554" w="1983683">
                <a:moveTo>
                  <a:pt x="0" y="0"/>
                </a:moveTo>
                <a:lnTo>
                  <a:pt x="1983684" y="0"/>
                </a:lnTo>
                <a:lnTo>
                  <a:pt x="1983684" y="2208554"/>
                </a:lnTo>
                <a:lnTo>
                  <a:pt x="0" y="22085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735507">
            <a:off x="13966259" y="7601417"/>
            <a:ext cx="1983683" cy="2208554"/>
          </a:xfrm>
          <a:custGeom>
            <a:avLst/>
            <a:gdLst/>
            <a:ahLst/>
            <a:cxnLst/>
            <a:rect r="r" b="b" t="t" l="l"/>
            <a:pathLst>
              <a:path h="2208554" w="1983683">
                <a:moveTo>
                  <a:pt x="0" y="0"/>
                </a:moveTo>
                <a:lnTo>
                  <a:pt x="1983684" y="0"/>
                </a:lnTo>
                <a:lnTo>
                  <a:pt x="1983684" y="2208554"/>
                </a:lnTo>
                <a:lnTo>
                  <a:pt x="0" y="22085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735507">
            <a:off x="16111154" y="4708933"/>
            <a:ext cx="1983683" cy="2208554"/>
          </a:xfrm>
          <a:custGeom>
            <a:avLst/>
            <a:gdLst/>
            <a:ahLst/>
            <a:cxnLst/>
            <a:rect r="r" b="b" t="t" l="l"/>
            <a:pathLst>
              <a:path h="2208554" w="1983683">
                <a:moveTo>
                  <a:pt x="0" y="0"/>
                </a:moveTo>
                <a:lnTo>
                  <a:pt x="1983684" y="0"/>
                </a:lnTo>
                <a:lnTo>
                  <a:pt x="1983684" y="2208555"/>
                </a:lnTo>
                <a:lnTo>
                  <a:pt x="0" y="22085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735507">
            <a:off x="-740693" y="557060"/>
            <a:ext cx="1983683" cy="2208554"/>
          </a:xfrm>
          <a:custGeom>
            <a:avLst/>
            <a:gdLst/>
            <a:ahLst/>
            <a:cxnLst/>
            <a:rect r="r" b="b" t="t" l="l"/>
            <a:pathLst>
              <a:path h="2208554" w="1983683">
                <a:moveTo>
                  <a:pt x="0" y="0"/>
                </a:moveTo>
                <a:lnTo>
                  <a:pt x="1983683" y="0"/>
                </a:lnTo>
                <a:lnTo>
                  <a:pt x="1983683" y="2208555"/>
                </a:lnTo>
                <a:lnTo>
                  <a:pt x="0" y="22085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46547" y="792732"/>
            <a:ext cx="6647846" cy="7871454"/>
          </a:xfrm>
          <a:custGeom>
            <a:avLst/>
            <a:gdLst/>
            <a:ahLst/>
            <a:cxnLst/>
            <a:rect r="r" b="b" t="t" l="l"/>
            <a:pathLst>
              <a:path h="7871454" w="6647846">
                <a:moveTo>
                  <a:pt x="0" y="0"/>
                </a:moveTo>
                <a:lnTo>
                  <a:pt x="6647846" y="0"/>
                </a:lnTo>
                <a:lnTo>
                  <a:pt x="6647846" y="7871454"/>
                </a:lnTo>
                <a:lnTo>
                  <a:pt x="0" y="7871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88329" y="8664186"/>
            <a:ext cx="19178618" cy="1999829"/>
            <a:chOff x="0" y="0"/>
            <a:chExt cx="186375649" cy="194341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72390" y="72390"/>
              <a:ext cx="186230868" cy="19289335"/>
            </a:xfrm>
            <a:custGeom>
              <a:avLst/>
              <a:gdLst/>
              <a:ahLst/>
              <a:cxnLst/>
              <a:rect r="r" b="b" t="t" l="l"/>
              <a:pathLst>
                <a:path h="19289335" w="186230868">
                  <a:moveTo>
                    <a:pt x="0" y="0"/>
                  </a:moveTo>
                  <a:lnTo>
                    <a:pt x="186230868" y="0"/>
                  </a:lnTo>
                  <a:lnTo>
                    <a:pt x="186230868" y="19289335"/>
                  </a:lnTo>
                  <a:lnTo>
                    <a:pt x="0" y="19289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6375650" cy="19434115"/>
            </a:xfrm>
            <a:custGeom>
              <a:avLst/>
              <a:gdLst/>
              <a:ahLst/>
              <a:cxnLst/>
              <a:rect r="r" b="b" t="t" l="l"/>
              <a:pathLst>
                <a:path h="19434115" w="186375650">
                  <a:moveTo>
                    <a:pt x="186230865" y="19289336"/>
                  </a:moveTo>
                  <a:lnTo>
                    <a:pt x="186375650" y="19289336"/>
                  </a:lnTo>
                  <a:lnTo>
                    <a:pt x="186375650" y="19434115"/>
                  </a:lnTo>
                  <a:lnTo>
                    <a:pt x="186230865" y="19434115"/>
                  </a:lnTo>
                  <a:lnTo>
                    <a:pt x="186230865" y="1928933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9289336"/>
                  </a:lnTo>
                  <a:lnTo>
                    <a:pt x="0" y="19289336"/>
                  </a:lnTo>
                  <a:lnTo>
                    <a:pt x="0" y="144780"/>
                  </a:lnTo>
                  <a:close/>
                  <a:moveTo>
                    <a:pt x="0" y="19289336"/>
                  </a:moveTo>
                  <a:lnTo>
                    <a:pt x="144780" y="19289336"/>
                  </a:lnTo>
                  <a:lnTo>
                    <a:pt x="144780" y="19434115"/>
                  </a:lnTo>
                  <a:lnTo>
                    <a:pt x="0" y="19434115"/>
                  </a:lnTo>
                  <a:lnTo>
                    <a:pt x="0" y="19289336"/>
                  </a:lnTo>
                  <a:close/>
                  <a:moveTo>
                    <a:pt x="186230865" y="144780"/>
                  </a:moveTo>
                  <a:lnTo>
                    <a:pt x="186375650" y="144780"/>
                  </a:lnTo>
                  <a:lnTo>
                    <a:pt x="186375650" y="19289336"/>
                  </a:lnTo>
                  <a:lnTo>
                    <a:pt x="186230865" y="19289336"/>
                  </a:lnTo>
                  <a:lnTo>
                    <a:pt x="186230865" y="144780"/>
                  </a:lnTo>
                  <a:close/>
                  <a:moveTo>
                    <a:pt x="144780" y="19289336"/>
                  </a:moveTo>
                  <a:lnTo>
                    <a:pt x="186230865" y="19289336"/>
                  </a:lnTo>
                  <a:lnTo>
                    <a:pt x="186230865" y="19434115"/>
                  </a:lnTo>
                  <a:lnTo>
                    <a:pt x="144780" y="19434115"/>
                  </a:lnTo>
                  <a:lnTo>
                    <a:pt x="144780" y="19289336"/>
                  </a:lnTo>
                  <a:close/>
                  <a:moveTo>
                    <a:pt x="186230865" y="0"/>
                  </a:moveTo>
                  <a:lnTo>
                    <a:pt x="186375650" y="0"/>
                  </a:lnTo>
                  <a:lnTo>
                    <a:pt x="186375650" y="144780"/>
                  </a:lnTo>
                  <a:lnTo>
                    <a:pt x="186230865" y="144780"/>
                  </a:lnTo>
                  <a:lnTo>
                    <a:pt x="186230865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86230865" y="0"/>
                  </a:lnTo>
                  <a:lnTo>
                    <a:pt x="186230865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94827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238081" y="8641059"/>
            <a:ext cx="13725798" cy="1317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6"/>
              </a:lnSpc>
            </a:pPr>
            <a:r>
              <a:rPr lang="en-US" sz="7733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INTRODUCTION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2613952">
            <a:off x="15312001" y="7987076"/>
            <a:ext cx="3894598" cy="2145569"/>
          </a:xfrm>
          <a:custGeom>
            <a:avLst/>
            <a:gdLst/>
            <a:ahLst/>
            <a:cxnLst/>
            <a:rect r="r" b="b" t="t" l="l"/>
            <a:pathLst>
              <a:path h="2145569" w="3894598">
                <a:moveTo>
                  <a:pt x="0" y="0"/>
                </a:moveTo>
                <a:lnTo>
                  <a:pt x="3894598" y="0"/>
                </a:lnTo>
                <a:lnTo>
                  <a:pt x="3894598" y="2145570"/>
                </a:lnTo>
                <a:lnTo>
                  <a:pt x="0" y="2145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3434613">
            <a:off x="-1498439" y="7753156"/>
            <a:ext cx="3704166" cy="3246196"/>
          </a:xfrm>
          <a:custGeom>
            <a:avLst/>
            <a:gdLst/>
            <a:ahLst/>
            <a:cxnLst/>
            <a:rect r="r" b="b" t="t" l="l"/>
            <a:pathLst>
              <a:path h="3246196" w="3704166">
                <a:moveTo>
                  <a:pt x="0" y="0"/>
                </a:moveTo>
                <a:lnTo>
                  <a:pt x="3704165" y="0"/>
                </a:lnTo>
                <a:lnTo>
                  <a:pt x="3704165" y="3246196"/>
                </a:lnTo>
                <a:lnTo>
                  <a:pt x="0" y="32461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28700" y="1399482"/>
            <a:ext cx="10636779" cy="6686554"/>
            <a:chOff x="0" y="0"/>
            <a:chExt cx="14182372" cy="8915405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76200"/>
              <a:ext cx="14182372" cy="75654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56"/>
                </a:lnSpc>
              </a:pPr>
              <a:r>
                <a:rPr lang="en-US" sz="4611">
                  <a:solidFill>
                    <a:srgbClr val="C94827"/>
                  </a:solidFill>
                  <a:latin typeface="Hangyaboly"/>
                  <a:ea typeface="Hangyaboly"/>
                  <a:cs typeface="Hangyaboly"/>
                  <a:sym typeface="Hangyaboly"/>
                </a:rPr>
                <a:t>Pneumonia remains a major health threat, especially for children and the elderly, requiring fast and accurate diagnosis. Traditional X-ray analysis relies heavily on medical experts, often causing delays and inconsistencies. </a:t>
              </a:r>
            </a:p>
            <a:p>
              <a:pPr algn="ctr">
                <a:lnSpc>
                  <a:spcPts val="6456"/>
                </a:lnSpc>
              </a:pP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8283226"/>
              <a:ext cx="12942877" cy="63217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073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53608" y="5810151"/>
            <a:ext cx="4702164" cy="1179816"/>
          </a:xfrm>
          <a:custGeom>
            <a:avLst/>
            <a:gdLst/>
            <a:ahLst/>
            <a:cxnLst/>
            <a:rect r="r" b="b" t="t" l="l"/>
            <a:pathLst>
              <a:path h="1179816" w="4702164">
                <a:moveTo>
                  <a:pt x="0" y="0"/>
                </a:moveTo>
                <a:lnTo>
                  <a:pt x="4702163" y="0"/>
                </a:lnTo>
                <a:lnTo>
                  <a:pt x="4702163" y="1179816"/>
                </a:lnTo>
                <a:lnTo>
                  <a:pt x="0" y="11798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53608" y="3936497"/>
            <a:ext cx="4017736" cy="1008086"/>
          </a:xfrm>
          <a:custGeom>
            <a:avLst/>
            <a:gdLst/>
            <a:ahLst/>
            <a:cxnLst/>
            <a:rect r="r" b="b" t="t" l="l"/>
            <a:pathLst>
              <a:path h="1008086" w="4017736">
                <a:moveTo>
                  <a:pt x="0" y="0"/>
                </a:moveTo>
                <a:lnTo>
                  <a:pt x="4017735" y="0"/>
                </a:lnTo>
                <a:lnTo>
                  <a:pt x="4017735" y="1008086"/>
                </a:lnTo>
                <a:lnTo>
                  <a:pt x="0" y="10080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53608" y="4867840"/>
            <a:ext cx="4702164" cy="1179816"/>
          </a:xfrm>
          <a:custGeom>
            <a:avLst/>
            <a:gdLst/>
            <a:ahLst/>
            <a:cxnLst/>
            <a:rect r="r" b="b" t="t" l="l"/>
            <a:pathLst>
              <a:path h="1179816" w="4702164">
                <a:moveTo>
                  <a:pt x="0" y="0"/>
                </a:moveTo>
                <a:lnTo>
                  <a:pt x="4702163" y="0"/>
                </a:lnTo>
                <a:lnTo>
                  <a:pt x="4702163" y="1179815"/>
                </a:lnTo>
                <a:lnTo>
                  <a:pt x="0" y="11798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815609" y="616900"/>
            <a:ext cx="13947215" cy="2344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9"/>
              </a:lnSpc>
            </a:pPr>
            <a:r>
              <a:rPr lang="en-US" sz="4464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The main purpose of our project consists of utilizing deep learning methods to develop a simplified system that detects pneumonia through chest X-ray imaging.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28825" y="8663869"/>
            <a:ext cx="2115049" cy="2517916"/>
          </a:xfrm>
          <a:custGeom>
            <a:avLst/>
            <a:gdLst/>
            <a:ahLst/>
            <a:cxnLst/>
            <a:rect r="r" b="b" t="t" l="l"/>
            <a:pathLst>
              <a:path h="2517916" w="2115049">
                <a:moveTo>
                  <a:pt x="0" y="0"/>
                </a:moveTo>
                <a:lnTo>
                  <a:pt x="2115050" y="0"/>
                </a:lnTo>
                <a:lnTo>
                  <a:pt x="2115050" y="2517916"/>
                </a:lnTo>
                <a:lnTo>
                  <a:pt x="0" y="25179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201775" y="-230258"/>
            <a:ext cx="2115049" cy="2517916"/>
          </a:xfrm>
          <a:custGeom>
            <a:avLst/>
            <a:gdLst/>
            <a:ahLst/>
            <a:cxnLst/>
            <a:rect r="r" b="b" t="t" l="l"/>
            <a:pathLst>
              <a:path h="2517916" w="2115049">
                <a:moveTo>
                  <a:pt x="0" y="0"/>
                </a:moveTo>
                <a:lnTo>
                  <a:pt x="2115050" y="0"/>
                </a:lnTo>
                <a:lnTo>
                  <a:pt x="2115050" y="2517916"/>
                </a:lnTo>
                <a:lnTo>
                  <a:pt x="0" y="25179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930783" y="510011"/>
            <a:ext cx="4393195" cy="11988503"/>
          </a:xfrm>
          <a:custGeom>
            <a:avLst/>
            <a:gdLst/>
            <a:ahLst/>
            <a:cxnLst/>
            <a:rect r="r" b="b" t="t" l="l"/>
            <a:pathLst>
              <a:path h="11988503" w="4393195">
                <a:moveTo>
                  <a:pt x="0" y="0"/>
                </a:moveTo>
                <a:lnTo>
                  <a:pt x="4393195" y="0"/>
                </a:lnTo>
                <a:lnTo>
                  <a:pt x="4393195" y="11988503"/>
                </a:lnTo>
                <a:lnTo>
                  <a:pt x="0" y="119885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488329" y="8664186"/>
            <a:ext cx="19178618" cy="1999829"/>
            <a:chOff x="0" y="0"/>
            <a:chExt cx="186375649" cy="194341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2390" y="72390"/>
              <a:ext cx="186230868" cy="19289335"/>
            </a:xfrm>
            <a:custGeom>
              <a:avLst/>
              <a:gdLst/>
              <a:ahLst/>
              <a:cxnLst/>
              <a:rect r="r" b="b" t="t" l="l"/>
              <a:pathLst>
                <a:path h="19289335" w="186230868">
                  <a:moveTo>
                    <a:pt x="0" y="0"/>
                  </a:moveTo>
                  <a:lnTo>
                    <a:pt x="186230868" y="0"/>
                  </a:lnTo>
                  <a:lnTo>
                    <a:pt x="186230868" y="19289335"/>
                  </a:lnTo>
                  <a:lnTo>
                    <a:pt x="0" y="19289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6375650" cy="19434115"/>
            </a:xfrm>
            <a:custGeom>
              <a:avLst/>
              <a:gdLst/>
              <a:ahLst/>
              <a:cxnLst/>
              <a:rect r="r" b="b" t="t" l="l"/>
              <a:pathLst>
                <a:path h="19434115" w="186375650">
                  <a:moveTo>
                    <a:pt x="186230865" y="19289336"/>
                  </a:moveTo>
                  <a:lnTo>
                    <a:pt x="186375650" y="19289336"/>
                  </a:lnTo>
                  <a:lnTo>
                    <a:pt x="186375650" y="19434115"/>
                  </a:lnTo>
                  <a:lnTo>
                    <a:pt x="186230865" y="19434115"/>
                  </a:lnTo>
                  <a:lnTo>
                    <a:pt x="186230865" y="1928933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9289336"/>
                  </a:lnTo>
                  <a:lnTo>
                    <a:pt x="0" y="19289336"/>
                  </a:lnTo>
                  <a:lnTo>
                    <a:pt x="0" y="144780"/>
                  </a:lnTo>
                  <a:close/>
                  <a:moveTo>
                    <a:pt x="0" y="19289336"/>
                  </a:moveTo>
                  <a:lnTo>
                    <a:pt x="144780" y="19289336"/>
                  </a:lnTo>
                  <a:lnTo>
                    <a:pt x="144780" y="19434115"/>
                  </a:lnTo>
                  <a:lnTo>
                    <a:pt x="0" y="19434115"/>
                  </a:lnTo>
                  <a:lnTo>
                    <a:pt x="0" y="19289336"/>
                  </a:lnTo>
                  <a:close/>
                  <a:moveTo>
                    <a:pt x="186230865" y="144780"/>
                  </a:moveTo>
                  <a:lnTo>
                    <a:pt x="186375650" y="144780"/>
                  </a:lnTo>
                  <a:lnTo>
                    <a:pt x="186375650" y="19289336"/>
                  </a:lnTo>
                  <a:lnTo>
                    <a:pt x="186230865" y="19289336"/>
                  </a:lnTo>
                  <a:lnTo>
                    <a:pt x="186230865" y="144780"/>
                  </a:lnTo>
                  <a:close/>
                  <a:moveTo>
                    <a:pt x="144780" y="19289336"/>
                  </a:moveTo>
                  <a:lnTo>
                    <a:pt x="186230865" y="19289336"/>
                  </a:lnTo>
                  <a:lnTo>
                    <a:pt x="186230865" y="19434115"/>
                  </a:lnTo>
                  <a:lnTo>
                    <a:pt x="144780" y="19434115"/>
                  </a:lnTo>
                  <a:lnTo>
                    <a:pt x="144780" y="19289336"/>
                  </a:lnTo>
                  <a:close/>
                  <a:moveTo>
                    <a:pt x="186230865" y="0"/>
                  </a:moveTo>
                  <a:lnTo>
                    <a:pt x="186375650" y="0"/>
                  </a:lnTo>
                  <a:lnTo>
                    <a:pt x="186375650" y="144780"/>
                  </a:lnTo>
                  <a:lnTo>
                    <a:pt x="186230865" y="144780"/>
                  </a:lnTo>
                  <a:lnTo>
                    <a:pt x="186230865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86230865" y="0"/>
                  </a:lnTo>
                  <a:lnTo>
                    <a:pt x="186230865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9482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768906" y="3418163"/>
            <a:ext cx="4254061" cy="4343904"/>
            <a:chOff x="0" y="0"/>
            <a:chExt cx="1120411" cy="114407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20411" cy="1144074"/>
            </a:xfrm>
            <a:custGeom>
              <a:avLst/>
              <a:gdLst/>
              <a:ahLst/>
              <a:cxnLst/>
              <a:rect r="r" b="b" t="t" l="l"/>
              <a:pathLst>
                <a:path h="1144074" w="1120411">
                  <a:moveTo>
                    <a:pt x="92814" y="0"/>
                  </a:moveTo>
                  <a:lnTo>
                    <a:pt x="1027597" y="0"/>
                  </a:lnTo>
                  <a:cubicBezTo>
                    <a:pt x="1078857" y="0"/>
                    <a:pt x="1120411" y="41554"/>
                    <a:pt x="1120411" y="92814"/>
                  </a:cubicBezTo>
                  <a:lnTo>
                    <a:pt x="1120411" y="1051259"/>
                  </a:lnTo>
                  <a:cubicBezTo>
                    <a:pt x="1120411" y="1102519"/>
                    <a:pt x="1078857" y="1144074"/>
                    <a:pt x="1027597" y="1144074"/>
                  </a:cubicBezTo>
                  <a:lnTo>
                    <a:pt x="92814" y="1144074"/>
                  </a:lnTo>
                  <a:cubicBezTo>
                    <a:pt x="41554" y="1144074"/>
                    <a:pt x="0" y="1102519"/>
                    <a:pt x="0" y="1051259"/>
                  </a:cubicBezTo>
                  <a:lnTo>
                    <a:pt x="0" y="92814"/>
                  </a:lnTo>
                  <a:cubicBezTo>
                    <a:pt x="0" y="41554"/>
                    <a:pt x="41554" y="0"/>
                    <a:pt x="92814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120411" cy="1182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930494" y="3711966"/>
            <a:ext cx="3760738" cy="3832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4"/>
              </a:lnSpc>
              <a:spcBef>
                <a:spcPct val="0"/>
              </a:spcBef>
            </a:pPr>
            <a:r>
              <a:rPr lang="en-US" sz="4374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Custom Built CNN</a:t>
            </a:r>
          </a:p>
          <a:p>
            <a:pPr algn="ctr">
              <a:lnSpc>
                <a:spcPts val="6124"/>
              </a:lnSpc>
              <a:spcBef>
                <a:spcPct val="0"/>
              </a:spcBef>
            </a:pPr>
            <a:r>
              <a:rPr lang="en-US" sz="4374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RESNET</a:t>
            </a:r>
          </a:p>
          <a:p>
            <a:pPr algn="ctr">
              <a:lnSpc>
                <a:spcPts val="6124"/>
              </a:lnSpc>
              <a:spcBef>
                <a:spcPct val="0"/>
              </a:spcBef>
            </a:pPr>
            <a:r>
              <a:rPr lang="en-US" sz="4374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DENSENET</a:t>
            </a:r>
          </a:p>
          <a:p>
            <a:pPr algn="ctr">
              <a:lnSpc>
                <a:spcPts val="6124"/>
              </a:lnSpc>
              <a:spcBef>
                <a:spcPct val="0"/>
              </a:spcBef>
            </a:pPr>
            <a:r>
              <a:rPr lang="en-US" sz="4374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VGG16</a:t>
            </a:r>
          </a:p>
          <a:p>
            <a:pPr algn="ctr">
              <a:lnSpc>
                <a:spcPts val="6124"/>
              </a:lnSpc>
              <a:spcBef>
                <a:spcPct val="0"/>
              </a:spcBef>
            </a:pPr>
            <a:r>
              <a:rPr lang="en-US" sz="4374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INCEPTIONNET</a:t>
            </a:r>
          </a:p>
        </p:txBody>
      </p:sp>
      <p:sp>
        <p:nvSpPr>
          <p:cNvPr name="AutoShape 16" id="16"/>
          <p:cNvSpPr/>
          <p:nvPr/>
        </p:nvSpPr>
        <p:spPr>
          <a:xfrm flipV="true">
            <a:off x="11355767" y="5689999"/>
            <a:ext cx="2966235" cy="0"/>
          </a:xfrm>
          <a:prstGeom prst="line">
            <a:avLst/>
          </a:prstGeom>
          <a:ln cap="flat" w="38100">
            <a:solidFill>
              <a:srgbClr val="000000"/>
            </a:solidFill>
            <a:prstDash val="sysDot"/>
            <a:headEnd type="none" len="sm" w="sm"/>
            <a:tailEnd type="arrow" len="sm" w="med"/>
          </a:ln>
        </p:spPr>
      </p:sp>
      <p:sp>
        <p:nvSpPr>
          <p:cNvPr name="TextBox 17" id="17"/>
          <p:cNvSpPr txBox="true"/>
          <p:nvPr/>
        </p:nvSpPr>
        <p:spPr>
          <a:xfrm rot="0">
            <a:off x="2086225" y="4192207"/>
            <a:ext cx="10998790" cy="75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4"/>
              </a:lnSpc>
            </a:pPr>
            <a:r>
              <a:rPr lang="en-US" sz="4374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#1 APPLICATION DEVELOPMENT WITH RESNET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53608" y="5251898"/>
            <a:ext cx="8422275" cy="75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4"/>
              </a:lnSpc>
            </a:pPr>
            <a:r>
              <a:rPr lang="en-US" sz="4374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#2 MODEL PEROFORMANCE COMPARISON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-464415" y="6085212"/>
            <a:ext cx="9608415" cy="752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4"/>
              </a:lnSpc>
            </a:pPr>
            <a:r>
              <a:rPr lang="en-US" sz="4374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#3 DASHBOARD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06842" y="8805006"/>
            <a:ext cx="15552458" cy="132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26"/>
              </a:lnSpc>
              <a:spcBef>
                <a:spcPct val="0"/>
              </a:spcBef>
            </a:pPr>
            <a:r>
              <a:rPr lang="en-US" sz="7733" strike="noStrike" u="none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OBJECTIVE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88329" y="8664186"/>
            <a:ext cx="19178618" cy="1999829"/>
            <a:chOff x="0" y="0"/>
            <a:chExt cx="186375649" cy="194341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86230868" cy="19289335"/>
            </a:xfrm>
            <a:custGeom>
              <a:avLst/>
              <a:gdLst/>
              <a:ahLst/>
              <a:cxnLst/>
              <a:rect r="r" b="b" t="t" l="l"/>
              <a:pathLst>
                <a:path h="19289335" w="186230868">
                  <a:moveTo>
                    <a:pt x="0" y="0"/>
                  </a:moveTo>
                  <a:lnTo>
                    <a:pt x="186230868" y="0"/>
                  </a:lnTo>
                  <a:lnTo>
                    <a:pt x="186230868" y="19289335"/>
                  </a:lnTo>
                  <a:lnTo>
                    <a:pt x="0" y="19289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6375650" cy="19434115"/>
            </a:xfrm>
            <a:custGeom>
              <a:avLst/>
              <a:gdLst/>
              <a:ahLst/>
              <a:cxnLst/>
              <a:rect r="r" b="b" t="t" l="l"/>
              <a:pathLst>
                <a:path h="19434115" w="186375650">
                  <a:moveTo>
                    <a:pt x="186230865" y="19289336"/>
                  </a:moveTo>
                  <a:lnTo>
                    <a:pt x="186375650" y="19289336"/>
                  </a:lnTo>
                  <a:lnTo>
                    <a:pt x="186375650" y="19434115"/>
                  </a:lnTo>
                  <a:lnTo>
                    <a:pt x="186230865" y="19434115"/>
                  </a:lnTo>
                  <a:lnTo>
                    <a:pt x="186230865" y="1928933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9289336"/>
                  </a:lnTo>
                  <a:lnTo>
                    <a:pt x="0" y="19289336"/>
                  </a:lnTo>
                  <a:lnTo>
                    <a:pt x="0" y="144780"/>
                  </a:lnTo>
                  <a:close/>
                  <a:moveTo>
                    <a:pt x="0" y="19289336"/>
                  </a:moveTo>
                  <a:lnTo>
                    <a:pt x="144780" y="19289336"/>
                  </a:lnTo>
                  <a:lnTo>
                    <a:pt x="144780" y="19434115"/>
                  </a:lnTo>
                  <a:lnTo>
                    <a:pt x="0" y="19434115"/>
                  </a:lnTo>
                  <a:lnTo>
                    <a:pt x="0" y="19289336"/>
                  </a:lnTo>
                  <a:close/>
                  <a:moveTo>
                    <a:pt x="186230865" y="144780"/>
                  </a:moveTo>
                  <a:lnTo>
                    <a:pt x="186375650" y="144780"/>
                  </a:lnTo>
                  <a:lnTo>
                    <a:pt x="186375650" y="19289336"/>
                  </a:lnTo>
                  <a:lnTo>
                    <a:pt x="186230865" y="19289336"/>
                  </a:lnTo>
                  <a:lnTo>
                    <a:pt x="186230865" y="144780"/>
                  </a:lnTo>
                  <a:close/>
                  <a:moveTo>
                    <a:pt x="144780" y="19289336"/>
                  </a:moveTo>
                  <a:lnTo>
                    <a:pt x="186230865" y="19289336"/>
                  </a:lnTo>
                  <a:lnTo>
                    <a:pt x="186230865" y="19434115"/>
                  </a:lnTo>
                  <a:lnTo>
                    <a:pt x="144780" y="19434115"/>
                  </a:lnTo>
                  <a:lnTo>
                    <a:pt x="144780" y="19289336"/>
                  </a:lnTo>
                  <a:close/>
                  <a:moveTo>
                    <a:pt x="186230865" y="0"/>
                  </a:moveTo>
                  <a:lnTo>
                    <a:pt x="186375650" y="0"/>
                  </a:lnTo>
                  <a:lnTo>
                    <a:pt x="186375650" y="144780"/>
                  </a:lnTo>
                  <a:lnTo>
                    <a:pt x="186230865" y="144780"/>
                  </a:lnTo>
                  <a:lnTo>
                    <a:pt x="186230865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86230865" y="0"/>
                  </a:lnTo>
                  <a:lnTo>
                    <a:pt x="186230865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94827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2238081" y="8641059"/>
            <a:ext cx="13725798" cy="1317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6"/>
              </a:lnSpc>
            </a:pPr>
            <a:r>
              <a:rPr lang="en-US" sz="7733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FLOWCHART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2613952">
            <a:off x="15312001" y="7987076"/>
            <a:ext cx="3894598" cy="2145569"/>
          </a:xfrm>
          <a:custGeom>
            <a:avLst/>
            <a:gdLst/>
            <a:ahLst/>
            <a:cxnLst/>
            <a:rect r="r" b="b" t="t" l="l"/>
            <a:pathLst>
              <a:path h="2145569" w="3894598">
                <a:moveTo>
                  <a:pt x="0" y="0"/>
                </a:moveTo>
                <a:lnTo>
                  <a:pt x="3894598" y="0"/>
                </a:lnTo>
                <a:lnTo>
                  <a:pt x="3894598" y="2145570"/>
                </a:lnTo>
                <a:lnTo>
                  <a:pt x="0" y="214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434613">
            <a:off x="-1498439" y="7753156"/>
            <a:ext cx="3704166" cy="3246196"/>
          </a:xfrm>
          <a:custGeom>
            <a:avLst/>
            <a:gdLst/>
            <a:ahLst/>
            <a:cxnLst/>
            <a:rect r="r" b="b" t="t" l="l"/>
            <a:pathLst>
              <a:path h="3246196" w="3704166">
                <a:moveTo>
                  <a:pt x="0" y="0"/>
                </a:moveTo>
                <a:lnTo>
                  <a:pt x="3704165" y="0"/>
                </a:lnTo>
                <a:lnTo>
                  <a:pt x="3704165" y="3246196"/>
                </a:lnTo>
                <a:lnTo>
                  <a:pt x="0" y="3246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7599995"/>
            <a:ext cx="9707157" cy="486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3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07154" y="1340414"/>
            <a:ext cx="11313412" cy="6745622"/>
          </a:xfrm>
          <a:custGeom>
            <a:avLst/>
            <a:gdLst/>
            <a:ahLst/>
            <a:cxnLst/>
            <a:rect r="r" b="b" t="t" l="l"/>
            <a:pathLst>
              <a:path h="6745622" w="11313412">
                <a:moveTo>
                  <a:pt x="0" y="0"/>
                </a:moveTo>
                <a:lnTo>
                  <a:pt x="11313412" y="0"/>
                </a:lnTo>
                <a:lnTo>
                  <a:pt x="11313412" y="6745622"/>
                </a:lnTo>
                <a:lnTo>
                  <a:pt x="0" y="67456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3124518" y="3290608"/>
            <a:ext cx="3968906" cy="5373578"/>
          </a:xfrm>
          <a:custGeom>
            <a:avLst/>
            <a:gdLst/>
            <a:ahLst/>
            <a:cxnLst/>
            <a:rect r="r" b="b" t="t" l="l"/>
            <a:pathLst>
              <a:path h="5373578" w="3968906">
                <a:moveTo>
                  <a:pt x="3968906" y="0"/>
                </a:moveTo>
                <a:lnTo>
                  <a:pt x="0" y="0"/>
                </a:lnTo>
                <a:lnTo>
                  <a:pt x="0" y="5373578"/>
                </a:lnTo>
                <a:lnTo>
                  <a:pt x="3968906" y="5373578"/>
                </a:lnTo>
                <a:lnTo>
                  <a:pt x="3968906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88329" y="8664186"/>
            <a:ext cx="19178618" cy="1999829"/>
            <a:chOff x="0" y="0"/>
            <a:chExt cx="186375649" cy="194341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86230868" cy="19289335"/>
            </a:xfrm>
            <a:custGeom>
              <a:avLst/>
              <a:gdLst/>
              <a:ahLst/>
              <a:cxnLst/>
              <a:rect r="r" b="b" t="t" l="l"/>
              <a:pathLst>
                <a:path h="19289335" w="186230868">
                  <a:moveTo>
                    <a:pt x="0" y="0"/>
                  </a:moveTo>
                  <a:lnTo>
                    <a:pt x="186230868" y="0"/>
                  </a:lnTo>
                  <a:lnTo>
                    <a:pt x="186230868" y="19289335"/>
                  </a:lnTo>
                  <a:lnTo>
                    <a:pt x="0" y="19289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6375650" cy="19434115"/>
            </a:xfrm>
            <a:custGeom>
              <a:avLst/>
              <a:gdLst/>
              <a:ahLst/>
              <a:cxnLst/>
              <a:rect r="r" b="b" t="t" l="l"/>
              <a:pathLst>
                <a:path h="19434115" w="186375650">
                  <a:moveTo>
                    <a:pt x="186230865" y="19289336"/>
                  </a:moveTo>
                  <a:lnTo>
                    <a:pt x="186375650" y="19289336"/>
                  </a:lnTo>
                  <a:lnTo>
                    <a:pt x="186375650" y="19434115"/>
                  </a:lnTo>
                  <a:lnTo>
                    <a:pt x="186230865" y="19434115"/>
                  </a:lnTo>
                  <a:lnTo>
                    <a:pt x="186230865" y="1928933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9289336"/>
                  </a:lnTo>
                  <a:lnTo>
                    <a:pt x="0" y="19289336"/>
                  </a:lnTo>
                  <a:lnTo>
                    <a:pt x="0" y="144780"/>
                  </a:lnTo>
                  <a:close/>
                  <a:moveTo>
                    <a:pt x="0" y="19289336"/>
                  </a:moveTo>
                  <a:lnTo>
                    <a:pt x="144780" y="19289336"/>
                  </a:lnTo>
                  <a:lnTo>
                    <a:pt x="144780" y="19434115"/>
                  </a:lnTo>
                  <a:lnTo>
                    <a:pt x="0" y="19434115"/>
                  </a:lnTo>
                  <a:lnTo>
                    <a:pt x="0" y="19289336"/>
                  </a:lnTo>
                  <a:close/>
                  <a:moveTo>
                    <a:pt x="186230865" y="144780"/>
                  </a:moveTo>
                  <a:lnTo>
                    <a:pt x="186375650" y="144780"/>
                  </a:lnTo>
                  <a:lnTo>
                    <a:pt x="186375650" y="19289336"/>
                  </a:lnTo>
                  <a:lnTo>
                    <a:pt x="186230865" y="19289336"/>
                  </a:lnTo>
                  <a:lnTo>
                    <a:pt x="186230865" y="144780"/>
                  </a:lnTo>
                  <a:close/>
                  <a:moveTo>
                    <a:pt x="144780" y="19289336"/>
                  </a:moveTo>
                  <a:lnTo>
                    <a:pt x="186230865" y="19289336"/>
                  </a:lnTo>
                  <a:lnTo>
                    <a:pt x="186230865" y="19434115"/>
                  </a:lnTo>
                  <a:lnTo>
                    <a:pt x="144780" y="19434115"/>
                  </a:lnTo>
                  <a:lnTo>
                    <a:pt x="144780" y="19289336"/>
                  </a:lnTo>
                  <a:close/>
                  <a:moveTo>
                    <a:pt x="186230865" y="0"/>
                  </a:moveTo>
                  <a:lnTo>
                    <a:pt x="186375650" y="0"/>
                  </a:lnTo>
                  <a:lnTo>
                    <a:pt x="186375650" y="144780"/>
                  </a:lnTo>
                  <a:lnTo>
                    <a:pt x="186230865" y="144780"/>
                  </a:lnTo>
                  <a:lnTo>
                    <a:pt x="186230865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86230865" y="0"/>
                  </a:lnTo>
                  <a:lnTo>
                    <a:pt x="186230865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94827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2238081" y="8641059"/>
            <a:ext cx="13725798" cy="1317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6"/>
              </a:lnSpc>
            </a:pPr>
            <a:r>
              <a:rPr lang="en-US" sz="7733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THE ALGORITHM’S FLOWCHART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2613952">
            <a:off x="15312001" y="7987076"/>
            <a:ext cx="3894598" cy="2145569"/>
          </a:xfrm>
          <a:custGeom>
            <a:avLst/>
            <a:gdLst/>
            <a:ahLst/>
            <a:cxnLst/>
            <a:rect r="r" b="b" t="t" l="l"/>
            <a:pathLst>
              <a:path h="2145569" w="3894598">
                <a:moveTo>
                  <a:pt x="0" y="0"/>
                </a:moveTo>
                <a:lnTo>
                  <a:pt x="3894598" y="0"/>
                </a:lnTo>
                <a:lnTo>
                  <a:pt x="3894598" y="2145570"/>
                </a:lnTo>
                <a:lnTo>
                  <a:pt x="0" y="214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3434613">
            <a:off x="-1498439" y="7753156"/>
            <a:ext cx="3704166" cy="3246196"/>
          </a:xfrm>
          <a:custGeom>
            <a:avLst/>
            <a:gdLst/>
            <a:ahLst/>
            <a:cxnLst/>
            <a:rect r="r" b="b" t="t" l="l"/>
            <a:pathLst>
              <a:path h="3246196" w="3704166">
                <a:moveTo>
                  <a:pt x="0" y="0"/>
                </a:moveTo>
                <a:lnTo>
                  <a:pt x="3704165" y="0"/>
                </a:lnTo>
                <a:lnTo>
                  <a:pt x="3704165" y="3246196"/>
                </a:lnTo>
                <a:lnTo>
                  <a:pt x="0" y="3246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0">
            <a:off x="13124518" y="3290608"/>
            <a:ext cx="3968906" cy="5373578"/>
          </a:xfrm>
          <a:custGeom>
            <a:avLst/>
            <a:gdLst/>
            <a:ahLst/>
            <a:cxnLst/>
            <a:rect r="r" b="b" t="t" l="l"/>
            <a:pathLst>
              <a:path h="5373578" w="3968906">
                <a:moveTo>
                  <a:pt x="3968906" y="0"/>
                </a:moveTo>
                <a:lnTo>
                  <a:pt x="0" y="0"/>
                </a:lnTo>
                <a:lnTo>
                  <a:pt x="0" y="5373578"/>
                </a:lnTo>
                <a:lnTo>
                  <a:pt x="3968906" y="5373578"/>
                </a:lnTo>
                <a:lnTo>
                  <a:pt x="396890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979264" y="1378857"/>
            <a:ext cx="10413137" cy="6156767"/>
          </a:xfrm>
          <a:custGeom>
            <a:avLst/>
            <a:gdLst/>
            <a:ahLst/>
            <a:cxnLst/>
            <a:rect r="r" b="b" t="t" l="l"/>
            <a:pathLst>
              <a:path h="6156767" w="10413137">
                <a:moveTo>
                  <a:pt x="0" y="0"/>
                </a:moveTo>
                <a:lnTo>
                  <a:pt x="10413137" y="0"/>
                </a:lnTo>
                <a:lnTo>
                  <a:pt x="10413137" y="6156767"/>
                </a:lnTo>
                <a:lnTo>
                  <a:pt x="0" y="61567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7599995"/>
            <a:ext cx="9707157" cy="486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3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7651" y="3424651"/>
            <a:ext cx="3905645" cy="6862349"/>
          </a:xfrm>
          <a:custGeom>
            <a:avLst/>
            <a:gdLst/>
            <a:ahLst/>
            <a:cxnLst/>
            <a:rect r="r" b="b" t="t" l="l"/>
            <a:pathLst>
              <a:path h="6862349" w="3905645">
                <a:moveTo>
                  <a:pt x="0" y="0"/>
                </a:moveTo>
                <a:lnTo>
                  <a:pt x="3905645" y="0"/>
                </a:lnTo>
                <a:lnTo>
                  <a:pt x="3905645" y="6862349"/>
                </a:lnTo>
                <a:lnTo>
                  <a:pt x="0" y="68623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735507">
            <a:off x="15869495" y="7492539"/>
            <a:ext cx="3693475" cy="4112169"/>
          </a:xfrm>
          <a:custGeom>
            <a:avLst/>
            <a:gdLst/>
            <a:ahLst/>
            <a:cxnLst/>
            <a:rect r="r" b="b" t="t" l="l"/>
            <a:pathLst>
              <a:path h="4112169" w="3693475">
                <a:moveTo>
                  <a:pt x="0" y="0"/>
                </a:moveTo>
                <a:lnTo>
                  <a:pt x="3693475" y="0"/>
                </a:lnTo>
                <a:lnTo>
                  <a:pt x="3693475" y="4112169"/>
                </a:lnTo>
                <a:lnTo>
                  <a:pt x="0" y="41121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027388" y="-454896"/>
            <a:ext cx="19667929" cy="1999829"/>
            <a:chOff x="0" y="0"/>
            <a:chExt cx="191130718" cy="194341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72390" y="72390"/>
              <a:ext cx="190985939" cy="19289335"/>
            </a:xfrm>
            <a:custGeom>
              <a:avLst/>
              <a:gdLst/>
              <a:ahLst/>
              <a:cxnLst/>
              <a:rect r="r" b="b" t="t" l="l"/>
              <a:pathLst>
                <a:path h="19289335" w="190985939">
                  <a:moveTo>
                    <a:pt x="0" y="0"/>
                  </a:moveTo>
                  <a:lnTo>
                    <a:pt x="190985939" y="0"/>
                  </a:lnTo>
                  <a:lnTo>
                    <a:pt x="190985939" y="19289335"/>
                  </a:lnTo>
                  <a:lnTo>
                    <a:pt x="0" y="19289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1130721" cy="19434115"/>
            </a:xfrm>
            <a:custGeom>
              <a:avLst/>
              <a:gdLst/>
              <a:ahLst/>
              <a:cxnLst/>
              <a:rect r="r" b="b" t="t" l="l"/>
              <a:pathLst>
                <a:path h="19434115" w="191130721">
                  <a:moveTo>
                    <a:pt x="190985936" y="19289336"/>
                  </a:moveTo>
                  <a:lnTo>
                    <a:pt x="191130721" y="19289336"/>
                  </a:lnTo>
                  <a:lnTo>
                    <a:pt x="191130721" y="19434115"/>
                  </a:lnTo>
                  <a:lnTo>
                    <a:pt x="190985936" y="19434115"/>
                  </a:lnTo>
                  <a:lnTo>
                    <a:pt x="190985936" y="1928933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9289336"/>
                  </a:lnTo>
                  <a:lnTo>
                    <a:pt x="0" y="19289336"/>
                  </a:lnTo>
                  <a:lnTo>
                    <a:pt x="0" y="144780"/>
                  </a:lnTo>
                  <a:close/>
                  <a:moveTo>
                    <a:pt x="0" y="19289336"/>
                  </a:moveTo>
                  <a:lnTo>
                    <a:pt x="144780" y="19289336"/>
                  </a:lnTo>
                  <a:lnTo>
                    <a:pt x="144780" y="19434115"/>
                  </a:lnTo>
                  <a:lnTo>
                    <a:pt x="0" y="19434115"/>
                  </a:lnTo>
                  <a:lnTo>
                    <a:pt x="0" y="19289336"/>
                  </a:lnTo>
                  <a:close/>
                  <a:moveTo>
                    <a:pt x="190985936" y="144780"/>
                  </a:moveTo>
                  <a:lnTo>
                    <a:pt x="191130721" y="144780"/>
                  </a:lnTo>
                  <a:lnTo>
                    <a:pt x="191130721" y="19289336"/>
                  </a:lnTo>
                  <a:lnTo>
                    <a:pt x="190985936" y="19289336"/>
                  </a:lnTo>
                  <a:lnTo>
                    <a:pt x="190985936" y="144780"/>
                  </a:lnTo>
                  <a:close/>
                  <a:moveTo>
                    <a:pt x="144780" y="19289336"/>
                  </a:moveTo>
                  <a:lnTo>
                    <a:pt x="190985936" y="19289336"/>
                  </a:lnTo>
                  <a:lnTo>
                    <a:pt x="190985936" y="19434115"/>
                  </a:lnTo>
                  <a:lnTo>
                    <a:pt x="144780" y="19434115"/>
                  </a:lnTo>
                  <a:lnTo>
                    <a:pt x="144780" y="19289336"/>
                  </a:lnTo>
                  <a:close/>
                  <a:moveTo>
                    <a:pt x="190985936" y="0"/>
                  </a:moveTo>
                  <a:lnTo>
                    <a:pt x="191130721" y="0"/>
                  </a:lnTo>
                  <a:lnTo>
                    <a:pt x="191130721" y="144780"/>
                  </a:lnTo>
                  <a:lnTo>
                    <a:pt x="190985936" y="144780"/>
                  </a:lnTo>
                  <a:lnTo>
                    <a:pt x="19098593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90985936" y="0"/>
                  </a:lnTo>
                  <a:lnTo>
                    <a:pt x="19098593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94827"/>
            </a:solidFill>
          </p:spPr>
        </p:sp>
      </p:grpSp>
      <p:sp>
        <p:nvSpPr>
          <p:cNvPr name="Freeform 7" id="7"/>
          <p:cNvSpPr/>
          <p:nvPr/>
        </p:nvSpPr>
        <p:spPr>
          <a:xfrm flipH="false" flipV="false" rot="-1735507">
            <a:off x="15869495" y="-1027384"/>
            <a:ext cx="3693475" cy="4112169"/>
          </a:xfrm>
          <a:custGeom>
            <a:avLst/>
            <a:gdLst/>
            <a:ahLst/>
            <a:cxnLst/>
            <a:rect r="r" b="b" t="t" l="l"/>
            <a:pathLst>
              <a:path h="4112169" w="3693475">
                <a:moveTo>
                  <a:pt x="0" y="0"/>
                </a:moveTo>
                <a:lnTo>
                  <a:pt x="3693475" y="0"/>
                </a:lnTo>
                <a:lnTo>
                  <a:pt x="3693475" y="4112168"/>
                </a:lnTo>
                <a:lnTo>
                  <a:pt x="0" y="4112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368217" y="2528802"/>
            <a:ext cx="12218887" cy="6231632"/>
          </a:xfrm>
          <a:custGeom>
            <a:avLst/>
            <a:gdLst/>
            <a:ahLst/>
            <a:cxnLst/>
            <a:rect r="r" b="b" t="t" l="l"/>
            <a:pathLst>
              <a:path h="6231632" w="12218887">
                <a:moveTo>
                  <a:pt x="0" y="0"/>
                </a:moveTo>
                <a:lnTo>
                  <a:pt x="12218887" y="0"/>
                </a:lnTo>
                <a:lnTo>
                  <a:pt x="12218887" y="6231632"/>
                </a:lnTo>
                <a:lnTo>
                  <a:pt x="0" y="62316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43677" y="31092"/>
            <a:ext cx="13725798" cy="1317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6"/>
              </a:lnSpc>
            </a:pPr>
            <a:r>
              <a:rPr lang="en-US" sz="7733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HOW OUR DATASET LOOKS ALIKE?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613952">
            <a:off x="15312001" y="7987076"/>
            <a:ext cx="3894598" cy="2145569"/>
          </a:xfrm>
          <a:custGeom>
            <a:avLst/>
            <a:gdLst/>
            <a:ahLst/>
            <a:cxnLst/>
            <a:rect r="r" b="b" t="t" l="l"/>
            <a:pathLst>
              <a:path h="2145569" w="3894598">
                <a:moveTo>
                  <a:pt x="0" y="0"/>
                </a:moveTo>
                <a:lnTo>
                  <a:pt x="3894598" y="0"/>
                </a:lnTo>
                <a:lnTo>
                  <a:pt x="3894598" y="2145570"/>
                </a:lnTo>
                <a:lnTo>
                  <a:pt x="0" y="214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30026" y="-230258"/>
            <a:ext cx="2115049" cy="2517916"/>
          </a:xfrm>
          <a:custGeom>
            <a:avLst/>
            <a:gdLst/>
            <a:ahLst/>
            <a:cxnLst/>
            <a:rect r="r" b="b" t="t" l="l"/>
            <a:pathLst>
              <a:path h="2517916" w="2115049">
                <a:moveTo>
                  <a:pt x="0" y="0"/>
                </a:moveTo>
                <a:lnTo>
                  <a:pt x="2115049" y="0"/>
                </a:lnTo>
                <a:lnTo>
                  <a:pt x="2115049" y="2517916"/>
                </a:lnTo>
                <a:lnTo>
                  <a:pt x="0" y="25179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825" y="8069560"/>
            <a:ext cx="2115049" cy="2517916"/>
          </a:xfrm>
          <a:custGeom>
            <a:avLst/>
            <a:gdLst/>
            <a:ahLst/>
            <a:cxnLst/>
            <a:rect r="r" b="b" t="t" l="l"/>
            <a:pathLst>
              <a:path h="2517916" w="2115049">
                <a:moveTo>
                  <a:pt x="0" y="0"/>
                </a:moveTo>
                <a:lnTo>
                  <a:pt x="2115050" y="0"/>
                </a:lnTo>
                <a:lnTo>
                  <a:pt x="2115050" y="2517916"/>
                </a:lnTo>
                <a:lnTo>
                  <a:pt x="0" y="25179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922840">
            <a:off x="-580359" y="75859"/>
            <a:ext cx="2663583" cy="2334267"/>
          </a:xfrm>
          <a:custGeom>
            <a:avLst/>
            <a:gdLst/>
            <a:ahLst/>
            <a:cxnLst/>
            <a:rect r="r" b="b" t="t" l="l"/>
            <a:pathLst>
              <a:path h="2334267" w="2663583">
                <a:moveTo>
                  <a:pt x="0" y="0"/>
                </a:moveTo>
                <a:lnTo>
                  <a:pt x="2663583" y="0"/>
                </a:lnTo>
                <a:lnTo>
                  <a:pt x="2663583" y="2334267"/>
                </a:lnTo>
                <a:lnTo>
                  <a:pt x="0" y="23342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93337" y="671017"/>
            <a:ext cx="15501326" cy="3461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67"/>
              </a:lnSpc>
            </a:pPr>
            <a:r>
              <a:rPr lang="en-US" b="true" sz="13105" spc="52">
                <a:solidFill>
                  <a:srgbClr val="FFDE59"/>
                </a:solidFill>
                <a:latin typeface="Libre Franklin Heavy"/>
                <a:ea typeface="Libre Franklin Heavy"/>
                <a:cs typeface="Libre Franklin Heavy"/>
                <a:sym typeface="Libre Franklin Heavy"/>
              </a:rPr>
              <a:t>PROPOSED METHODOLOGY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31262" y="4349234"/>
            <a:ext cx="10096202" cy="5375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4"/>
              </a:lnSpc>
              <a:spcBef>
                <a:spcPct val="0"/>
              </a:spcBef>
            </a:pPr>
            <a:r>
              <a:rPr lang="en-US" sz="4374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Our methodology is structured into five phases:</a:t>
            </a:r>
          </a:p>
          <a:p>
            <a:pPr algn="ctr">
              <a:lnSpc>
                <a:spcPts val="6124"/>
              </a:lnSpc>
              <a:spcBef>
                <a:spcPct val="0"/>
              </a:spcBef>
            </a:pPr>
            <a:r>
              <a:rPr lang="en-US" sz="4374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 </a:t>
            </a:r>
          </a:p>
          <a:p>
            <a:pPr algn="l">
              <a:lnSpc>
                <a:spcPts val="6124"/>
              </a:lnSpc>
              <a:spcBef>
                <a:spcPct val="0"/>
              </a:spcBef>
            </a:pPr>
            <a:r>
              <a:rPr lang="en-US" sz="4374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1. Data Preparation </a:t>
            </a:r>
          </a:p>
          <a:p>
            <a:pPr algn="l">
              <a:lnSpc>
                <a:spcPts val="6124"/>
              </a:lnSpc>
              <a:spcBef>
                <a:spcPct val="0"/>
              </a:spcBef>
            </a:pPr>
            <a:r>
              <a:rPr lang="en-US" sz="4374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2. Development of model </a:t>
            </a:r>
          </a:p>
          <a:p>
            <a:pPr algn="l">
              <a:lnSpc>
                <a:spcPts val="6124"/>
              </a:lnSpc>
              <a:spcBef>
                <a:spcPct val="0"/>
              </a:spcBef>
            </a:pPr>
            <a:r>
              <a:rPr lang="en-US" sz="4374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3. Evaluation</a:t>
            </a:r>
          </a:p>
          <a:p>
            <a:pPr algn="l">
              <a:lnSpc>
                <a:spcPts val="6124"/>
              </a:lnSpc>
              <a:spcBef>
                <a:spcPct val="0"/>
              </a:spcBef>
            </a:pPr>
            <a:r>
              <a:rPr lang="en-US" sz="4374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 4. Web Application Integration </a:t>
            </a:r>
          </a:p>
          <a:p>
            <a:pPr algn="l">
              <a:lnSpc>
                <a:spcPts val="6124"/>
              </a:lnSpc>
              <a:spcBef>
                <a:spcPct val="0"/>
              </a:spcBef>
            </a:pPr>
            <a:r>
              <a:rPr lang="en-US" sz="4374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5. Dashboard Visualization 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12614400" y="2107314"/>
            <a:ext cx="6030675" cy="8705698"/>
          </a:xfrm>
          <a:custGeom>
            <a:avLst/>
            <a:gdLst/>
            <a:ahLst/>
            <a:cxnLst/>
            <a:rect r="r" b="b" t="t" l="l"/>
            <a:pathLst>
              <a:path h="8705698" w="6030675">
                <a:moveTo>
                  <a:pt x="6030675" y="0"/>
                </a:moveTo>
                <a:lnTo>
                  <a:pt x="0" y="0"/>
                </a:lnTo>
                <a:lnTo>
                  <a:pt x="0" y="8705698"/>
                </a:lnTo>
                <a:lnTo>
                  <a:pt x="6030675" y="8705698"/>
                </a:lnTo>
                <a:lnTo>
                  <a:pt x="6030675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88329" y="9059861"/>
            <a:ext cx="19178618" cy="1999829"/>
            <a:chOff x="0" y="0"/>
            <a:chExt cx="186375649" cy="194341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86230868" cy="19289335"/>
            </a:xfrm>
            <a:custGeom>
              <a:avLst/>
              <a:gdLst/>
              <a:ahLst/>
              <a:cxnLst/>
              <a:rect r="r" b="b" t="t" l="l"/>
              <a:pathLst>
                <a:path h="19289335" w="186230868">
                  <a:moveTo>
                    <a:pt x="0" y="0"/>
                  </a:moveTo>
                  <a:lnTo>
                    <a:pt x="186230868" y="0"/>
                  </a:lnTo>
                  <a:lnTo>
                    <a:pt x="186230868" y="19289335"/>
                  </a:lnTo>
                  <a:lnTo>
                    <a:pt x="0" y="19289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6375650" cy="19434115"/>
            </a:xfrm>
            <a:custGeom>
              <a:avLst/>
              <a:gdLst/>
              <a:ahLst/>
              <a:cxnLst/>
              <a:rect r="r" b="b" t="t" l="l"/>
              <a:pathLst>
                <a:path h="19434115" w="186375650">
                  <a:moveTo>
                    <a:pt x="186230865" y="19289336"/>
                  </a:moveTo>
                  <a:lnTo>
                    <a:pt x="186375650" y="19289336"/>
                  </a:lnTo>
                  <a:lnTo>
                    <a:pt x="186375650" y="19434115"/>
                  </a:lnTo>
                  <a:lnTo>
                    <a:pt x="186230865" y="19434115"/>
                  </a:lnTo>
                  <a:lnTo>
                    <a:pt x="186230865" y="1928933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9289336"/>
                  </a:lnTo>
                  <a:lnTo>
                    <a:pt x="0" y="19289336"/>
                  </a:lnTo>
                  <a:lnTo>
                    <a:pt x="0" y="144780"/>
                  </a:lnTo>
                  <a:close/>
                  <a:moveTo>
                    <a:pt x="0" y="19289336"/>
                  </a:moveTo>
                  <a:lnTo>
                    <a:pt x="144780" y="19289336"/>
                  </a:lnTo>
                  <a:lnTo>
                    <a:pt x="144780" y="19434115"/>
                  </a:lnTo>
                  <a:lnTo>
                    <a:pt x="0" y="19434115"/>
                  </a:lnTo>
                  <a:lnTo>
                    <a:pt x="0" y="19289336"/>
                  </a:lnTo>
                  <a:close/>
                  <a:moveTo>
                    <a:pt x="186230865" y="144780"/>
                  </a:moveTo>
                  <a:lnTo>
                    <a:pt x="186375650" y="144780"/>
                  </a:lnTo>
                  <a:lnTo>
                    <a:pt x="186375650" y="19289336"/>
                  </a:lnTo>
                  <a:lnTo>
                    <a:pt x="186230865" y="19289336"/>
                  </a:lnTo>
                  <a:lnTo>
                    <a:pt x="186230865" y="144780"/>
                  </a:lnTo>
                  <a:close/>
                  <a:moveTo>
                    <a:pt x="144780" y="19289336"/>
                  </a:moveTo>
                  <a:lnTo>
                    <a:pt x="186230865" y="19289336"/>
                  </a:lnTo>
                  <a:lnTo>
                    <a:pt x="186230865" y="19434115"/>
                  </a:lnTo>
                  <a:lnTo>
                    <a:pt x="144780" y="19434115"/>
                  </a:lnTo>
                  <a:lnTo>
                    <a:pt x="144780" y="19289336"/>
                  </a:lnTo>
                  <a:close/>
                  <a:moveTo>
                    <a:pt x="186230865" y="0"/>
                  </a:moveTo>
                  <a:lnTo>
                    <a:pt x="186375650" y="0"/>
                  </a:lnTo>
                  <a:lnTo>
                    <a:pt x="186375650" y="144780"/>
                  </a:lnTo>
                  <a:lnTo>
                    <a:pt x="186230865" y="144780"/>
                  </a:lnTo>
                  <a:lnTo>
                    <a:pt x="186230865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86230865" y="0"/>
                  </a:lnTo>
                  <a:lnTo>
                    <a:pt x="186230865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94827"/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-2613952">
            <a:off x="16742990" y="6737020"/>
            <a:ext cx="3894598" cy="2145569"/>
          </a:xfrm>
          <a:custGeom>
            <a:avLst/>
            <a:gdLst/>
            <a:ahLst/>
            <a:cxnLst/>
            <a:rect r="r" b="b" t="t" l="l"/>
            <a:pathLst>
              <a:path h="2145569" w="3894598">
                <a:moveTo>
                  <a:pt x="0" y="0"/>
                </a:moveTo>
                <a:lnTo>
                  <a:pt x="3894598" y="0"/>
                </a:lnTo>
                <a:lnTo>
                  <a:pt x="3894598" y="2145570"/>
                </a:lnTo>
                <a:lnTo>
                  <a:pt x="0" y="214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434613">
            <a:off x="-1852083" y="7000823"/>
            <a:ext cx="3704166" cy="3246196"/>
          </a:xfrm>
          <a:custGeom>
            <a:avLst/>
            <a:gdLst/>
            <a:ahLst/>
            <a:cxnLst/>
            <a:rect r="r" b="b" t="t" l="l"/>
            <a:pathLst>
              <a:path h="3246196" w="3704166">
                <a:moveTo>
                  <a:pt x="0" y="0"/>
                </a:moveTo>
                <a:lnTo>
                  <a:pt x="3704166" y="0"/>
                </a:lnTo>
                <a:lnTo>
                  <a:pt x="3704166" y="3246196"/>
                </a:lnTo>
                <a:lnTo>
                  <a:pt x="0" y="3246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735507">
            <a:off x="-1170640" y="-1884755"/>
            <a:ext cx="3693475" cy="4112169"/>
          </a:xfrm>
          <a:custGeom>
            <a:avLst/>
            <a:gdLst/>
            <a:ahLst/>
            <a:cxnLst/>
            <a:rect r="r" b="b" t="t" l="l"/>
            <a:pathLst>
              <a:path h="4112169" w="3693475">
                <a:moveTo>
                  <a:pt x="0" y="0"/>
                </a:moveTo>
                <a:lnTo>
                  <a:pt x="3693476" y="0"/>
                </a:lnTo>
                <a:lnTo>
                  <a:pt x="3693476" y="4112169"/>
                </a:lnTo>
                <a:lnTo>
                  <a:pt x="0" y="4112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318461" y="584505"/>
            <a:ext cx="10270132" cy="6123566"/>
          </a:xfrm>
          <a:custGeom>
            <a:avLst/>
            <a:gdLst/>
            <a:ahLst/>
            <a:cxnLst/>
            <a:rect r="r" b="b" t="t" l="l"/>
            <a:pathLst>
              <a:path h="6123566" w="10270132">
                <a:moveTo>
                  <a:pt x="0" y="0"/>
                </a:moveTo>
                <a:lnTo>
                  <a:pt x="10270132" y="0"/>
                </a:lnTo>
                <a:lnTo>
                  <a:pt x="10270132" y="6123567"/>
                </a:lnTo>
                <a:lnTo>
                  <a:pt x="0" y="61235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32372" y="9146645"/>
            <a:ext cx="17124051" cy="91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5299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IMAGE PREPROCESSING (INVESTIGATE PIXEL VALUE DISTRIBUTION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287185" y="5496174"/>
            <a:ext cx="18776329" cy="1528692"/>
            <a:chOff x="0" y="0"/>
            <a:chExt cx="25035106" cy="2038255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-66675"/>
              <a:ext cx="25035106" cy="8713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584"/>
                </a:lnSpc>
              </a:pP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1485037"/>
              <a:ext cx="22847114" cy="5532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23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6622347"/>
            <a:ext cx="16230600" cy="2289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24"/>
              </a:lnSpc>
              <a:spcBef>
                <a:spcPct val="0"/>
              </a:spcBef>
            </a:pPr>
            <a:r>
              <a:rPr lang="en-US" sz="4374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We got average pixel value of our dataset around 124.39. Since the value typically between the 0 to 255, so it means our image dataset is neither too dark nor too bright but moderate intensity.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613952">
            <a:off x="15312001" y="7987076"/>
            <a:ext cx="3894598" cy="2145569"/>
          </a:xfrm>
          <a:custGeom>
            <a:avLst/>
            <a:gdLst/>
            <a:ahLst/>
            <a:cxnLst/>
            <a:rect r="r" b="b" t="t" l="l"/>
            <a:pathLst>
              <a:path h="2145569" w="3894598">
                <a:moveTo>
                  <a:pt x="0" y="0"/>
                </a:moveTo>
                <a:lnTo>
                  <a:pt x="3894598" y="0"/>
                </a:lnTo>
                <a:lnTo>
                  <a:pt x="3894598" y="2145570"/>
                </a:lnTo>
                <a:lnTo>
                  <a:pt x="0" y="214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530026" y="-230258"/>
            <a:ext cx="2115049" cy="2517916"/>
          </a:xfrm>
          <a:custGeom>
            <a:avLst/>
            <a:gdLst/>
            <a:ahLst/>
            <a:cxnLst/>
            <a:rect r="r" b="b" t="t" l="l"/>
            <a:pathLst>
              <a:path h="2517916" w="2115049">
                <a:moveTo>
                  <a:pt x="0" y="0"/>
                </a:moveTo>
                <a:lnTo>
                  <a:pt x="2115049" y="0"/>
                </a:lnTo>
                <a:lnTo>
                  <a:pt x="2115049" y="2517916"/>
                </a:lnTo>
                <a:lnTo>
                  <a:pt x="0" y="25179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8825" y="8069560"/>
            <a:ext cx="2115049" cy="2517916"/>
          </a:xfrm>
          <a:custGeom>
            <a:avLst/>
            <a:gdLst/>
            <a:ahLst/>
            <a:cxnLst/>
            <a:rect r="r" b="b" t="t" l="l"/>
            <a:pathLst>
              <a:path h="2517916" w="2115049">
                <a:moveTo>
                  <a:pt x="0" y="0"/>
                </a:moveTo>
                <a:lnTo>
                  <a:pt x="2115050" y="0"/>
                </a:lnTo>
                <a:lnTo>
                  <a:pt x="2115050" y="2517916"/>
                </a:lnTo>
                <a:lnTo>
                  <a:pt x="0" y="25179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922840">
            <a:off x="-580359" y="75859"/>
            <a:ext cx="2663583" cy="2334267"/>
          </a:xfrm>
          <a:custGeom>
            <a:avLst/>
            <a:gdLst/>
            <a:ahLst/>
            <a:cxnLst/>
            <a:rect r="r" b="b" t="t" l="l"/>
            <a:pathLst>
              <a:path h="2334267" w="2663583">
                <a:moveTo>
                  <a:pt x="0" y="0"/>
                </a:moveTo>
                <a:lnTo>
                  <a:pt x="2663583" y="0"/>
                </a:lnTo>
                <a:lnTo>
                  <a:pt x="2663583" y="2334267"/>
                </a:lnTo>
                <a:lnTo>
                  <a:pt x="0" y="233426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05325" y="1257300"/>
            <a:ext cx="14713337" cy="520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67"/>
              </a:lnSpc>
            </a:pPr>
            <a:r>
              <a:rPr lang="en-US" b="true" sz="13105" spc="52">
                <a:solidFill>
                  <a:srgbClr val="C94827"/>
                </a:solidFill>
                <a:latin typeface="Libre Franklin Heavy"/>
                <a:ea typeface="Libre Franklin Heavy"/>
                <a:cs typeface="Libre Franklin Heavy"/>
                <a:sym typeface="Libre Franklin Heavy"/>
              </a:rPr>
              <a:t>DISCUSSING RESULTS</a:t>
            </a:r>
          </a:p>
          <a:p>
            <a:pPr algn="ctr">
              <a:lnSpc>
                <a:spcPts val="7146"/>
              </a:lnSpc>
            </a:pPr>
            <a:r>
              <a:rPr lang="en-US" b="true" sz="7006" spc="28">
                <a:solidFill>
                  <a:srgbClr val="C94827"/>
                </a:solidFill>
                <a:latin typeface="Libre Franklin Heavy"/>
                <a:ea typeface="Libre Franklin Heavy"/>
                <a:cs typeface="Libre Franklin Heavy"/>
                <a:sym typeface="Libre Franklin Heavy"/>
              </a:rPr>
              <a:t>AFTER MODEL IMPLEMENTATIONS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675046">
            <a:off x="15557239" y="3528709"/>
            <a:ext cx="1945572" cy="1234550"/>
          </a:xfrm>
          <a:custGeom>
            <a:avLst/>
            <a:gdLst/>
            <a:ahLst/>
            <a:cxnLst/>
            <a:rect r="r" b="b" t="t" l="l"/>
            <a:pathLst>
              <a:path h="1234550" w="1945572">
                <a:moveTo>
                  <a:pt x="0" y="0"/>
                </a:moveTo>
                <a:lnTo>
                  <a:pt x="1945573" y="0"/>
                </a:lnTo>
                <a:lnTo>
                  <a:pt x="1945573" y="1234550"/>
                </a:lnTo>
                <a:lnTo>
                  <a:pt x="0" y="12345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671271" y="824988"/>
            <a:ext cx="11353191" cy="9990808"/>
          </a:xfrm>
          <a:custGeom>
            <a:avLst/>
            <a:gdLst/>
            <a:ahLst/>
            <a:cxnLst/>
            <a:rect r="r" b="b" t="t" l="l"/>
            <a:pathLst>
              <a:path h="9990808" w="11353191">
                <a:moveTo>
                  <a:pt x="0" y="0"/>
                </a:moveTo>
                <a:lnTo>
                  <a:pt x="11353191" y="0"/>
                </a:lnTo>
                <a:lnTo>
                  <a:pt x="11353191" y="9990808"/>
                </a:lnTo>
                <a:lnTo>
                  <a:pt x="0" y="999080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-4804796" y="4691005"/>
            <a:ext cx="11609422" cy="1999829"/>
            <a:chOff x="0" y="0"/>
            <a:chExt cx="112819053" cy="194341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72390" y="72390"/>
              <a:ext cx="112674278" cy="19289335"/>
            </a:xfrm>
            <a:custGeom>
              <a:avLst/>
              <a:gdLst/>
              <a:ahLst/>
              <a:cxnLst/>
              <a:rect r="r" b="b" t="t" l="l"/>
              <a:pathLst>
                <a:path h="19289335" w="112674278">
                  <a:moveTo>
                    <a:pt x="0" y="0"/>
                  </a:moveTo>
                  <a:lnTo>
                    <a:pt x="112674278" y="0"/>
                  </a:lnTo>
                  <a:lnTo>
                    <a:pt x="112674278" y="19289335"/>
                  </a:lnTo>
                  <a:lnTo>
                    <a:pt x="0" y="192893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2819049" cy="19434115"/>
            </a:xfrm>
            <a:custGeom>
              <a:avLst/>
              <a:gdLst/>
              <a:ahLst/>
              <a:cxnLst/>
              <a:rect r="r" b="b" t="t" l="l"/>
              <a:pathLst>
                <a:path h="19434115" w="112819049">
                  <a:moveTo>
                    <a:pt x="112674276" y="19289336"/>
                  </a:moveTo>
                  <a:lnTo>
                    <a:pt x="112819049" y="19289336"/>
                  </a:lnTo>
                  <a:lnTo>
                    <a:pt x="112819049" y="19434115"/>
                  </a:lnTo>
                  <a:lnTo>
                    <a:pt x="112674276" y="19434115"/>
                  </a:lnTo>
                  <a:lnTo>
                    <a:pt x="112674276" y="1928933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9289336"/>
                  </a:lnTo>
                  <a:lnTo>
                    <a:pt x="0" y="19289336"/>
                  </a:lnTo>
                  <a:lnTo>
                    <a:pt x="0" y="144780"/>
                  </a:lnTo>
                  <a:close/>
                  <a:moveTo>
                    <a:pt x="0" y="19289336"/>
                  </a:moveTo>
                  <a:lnTo>
                    <a:pt x="144780" y="19289336"/>
                  </a:lnTo>
                  <a:lnTo>
                    <a:pt x="144780" y="19434115"/>
                  </a:lnTo>
                  <a:lnTo>
                    <a:pt x="0" y="19434115"/>
                  </a:lnTo>
                  <a:lnTo>
                    <a:pt x="0" y="19289336"/>
                  </a:lnTo>
                  <a:close/>
                  <a:moveTo>
                    <a:pt x="112674276" y="144780"/>
                  </a:moveTo>
                  <a:lnTo>
                    <a:pt x="112819049" y="144780"/>
                  </a:lnTo>
                  <a:lnTo>
                    <a:pt x="112819049" y="19289336"/>
                  </a:lnTo>
                  <a:lnTo>
                    <a:pt x="112674276" y="19289336"/>
                  </a:lnTo>
                  <a:lnTo>
                    <a:pt x="112674276" y="144780"/>
                  </a:lnTo>
                  <a:close/>
                  <a:moveTo>
                    <a:pt x="144780" y="19289336"/>
                  </a:moveTo>
                  <a:lnTo>
                    <a:pt x="112674276" y="19289336"/>
                  </a:lnTo>
                  <a:lnTo>
                    <a:pt x="112674276" y="19434115"/>
                  </a:lnTo>
                  <a:lnTo>
                    <a:pt x="144780" y="19434115"/>
                  </a:lnTo>
                  <a:lnTo>
                    <a:pt x="144780" y="19289336"/>
                  </a:lnTo>
                  <a:close/>
                  <a:moveTo>
                    <a:pt x="112674276" y="0"/>
                  </a:moveTo>
                  <a:lnTo>
                    <a:pt x="112819049" y="0"/>
                  </a:lnTo>
                  <a:lnTo>
                    <a:pt x="112819049" y="144780"/>
                  </a:lnTo>
                  <a:lnTo>
                    <a:pt x="112674276" y="144780"/>
                  </a:lnTo>
                  <a:lnTo>
                    <a:pt x="112674276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2674276" y="0"/>
                  </a:lnTo>
                  <a:lnTo>
                    <a:pt x="112674276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94827"/>
            </a:solidFill>
          </p:spPr>
        </p:sp>
      </p:grpSp>
      <p:sp>
        <p:nvSpPr>
          <p:cNvPr name="TextBox 5" id="5"/>
          <p:cNvSpPr txBox="true"/>
          <p:nvPr/>
        </p:nvSpPr>
        <p:spPr>
          <a:xfrm rot="-5400000">
            <a:off x="-3133001" y="4686935"/>
            <a:ext cx="8151531" cy="91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5299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BEST MODEL IS VGG16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3434613">
            <a:off x="-852168" y="-555364"/>
            <a:ext cx="3704166" cy="3246196"/>
          </a:xfrm>
          <a:custGeom>
            <a:avLst/>
            <a:gdLst/>
            <a:ahLst/>
            <a:cxnLst/>
            <a:rect r="r" b="b" t="t" l="l"/>
            <a:pathLst>
              <a:path h="3246196" w="3704166">
                <a:moveTo>
                  <a:pt x="0" y="0"/>
                </a:moveTo>
                <a:lnTo>
                  <a:pt x="3704165" y="0"/>
                </a:lnTo>
                <a:lnTo>
                  <a:pt x="3704165" y="3246196"/>
                </a:lnTo>
                <a:lnTo>
                  <a:pt x="0" y="32461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735507">
            <a:off x="-1090549" y="7836786"/>
            <a:ext cx="3693475" cy="4112169"/>
          </a:xfrm>
          <a:custGeom>
            <a:avLst/>
            <a:gdLst/>
            <a:ahLst/>
            <a:cxnLst/>
            <a:rect r="r" b="b" t="t" l="l"/>
            <a:pathLst>
              <a:path h="4112169" w="3693475">
                <a:moveTo>
                  <a:pt x="0" y="0"/>
                </a:moveTo>
                <a:lnTo>
                  <a:pt x="3693475" y="0"/>
                </a:lnTo>
                <a:lnTo>
                  <a:pt x="3693475" y="4112169"/>
                </a:lnTo>
                <a:lnTo>
                  <a:pt x="0" y="41121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00317">
            <a:off x="15150134" y="-2289302"/>
            <a:ext cx="3693475" cy="4112169"/>
          </a:xfrm>
          <a:custGeom>
            <a:avLst/>
            <a:gdLst/>
            <a:ahLst/>
            <a:cxnLst/>
            <a:rect r="r" b="b" t="t" l="l"/>
            <a:pathLst>
              <a:path h="4112169" w="3693475">
                <a:moveTo>
                  <a:pt x="0" y="0"/>
                </a:moveTo>
                <a:lnTo>
                  <a:pt x="3693475" y="0"/>
                </a:lnTo>
                <a:lnTo>
                  <a:pt x="3693475" y="4112168"/>
                </a:lnTo>
                <a:lnTo>
                  <a:pt x="0" y="41121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847422" y="237109"/>
            <a:ext cx="11084120" cy="6539631"/>
          </a:xfrm>
          <a:custGeom>
            <a:avLst/>
            <a:gdLst/>
            <a:ahLst/>
            <a:cxnLst/>
            <a:rect r="r" b="b" t="t" l="l"/>
            <a:pathLst>
              <a:path h="6539631" w="11084120">
                <a:moveTo>
                  <a:pt x="0" y="0"/>
                </a:moveTo>
                <a:lnTo>
                  <a:pt x="11084120" y="0"/>
                </a:lnTo>
                <a:lnTo>
                  <a:pt x="11084120" y="6539631"/>
                </a:lnTo>
                <a:lnTo>
                  <a:pt x="0" y="65396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816534" y="7123873"/>
            <a:ext cx="15145896" cy="2863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0"/>
              </a:lnSpc>
              <a:spcBef>
                <a:spcPct val="0"/>
              </a:spcBef>
            </a:pPr>
            <a:r>
              <a:rPr lang="en-US" sz="4107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THE ABOVE VISUALIZATION COMPARES THE MEAN ABOSLUTE ERROR VALUES OF THE DIFFERENT MODELS WHICH WE USED AND TRAINED IN OUR PROJECT. </a:t>
            </a:r>
          </a:p>
          <a:p>
            <a:pPr algn="ctr">
              <a:lnSpc>
                <a:spcPts val="575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94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22840">
            <a:off x="-580359" y="75859"/>
            <a:ext cx="2663583" cy="2334267"/>
          </a:xfrm>
          <a:custGeom>
            <a:avLst/>
            <a:gdLst/>
            <a:ahLst/>
            <a:cxnLst/>
            <a:rect r="r" b="b" t="t" l="l"/>
            <a:pathLst>
              <a:path h="2334267" w="2663583">
                <a:moveTo>
                  <a:pt x="0" y="0"/>
                </a:moveTo>
                <a:lnTo>
                  <a:pt x="2663583" y="0"/>
                </a:lnTo>
                <a:lnTo>
                  <a:pt x="2663583" y="2334267"/>
                </a:lnTo>
                <a:lnTo>
                  <a:pt x="0" y="233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613952">
            <a:off x="15312001" y="7987076"/>
            <a:ext cx="3894598" cy="2145569"/>
          </a:xfrm>
          <a:custGeom>
            <a:avLst/>
            <a:gdLst/>
            <a:ahLst/>
            <a:cxnLst/>
            <a:rect r="r" b="b" t="t" l="l"/>
            <a:pathLst>
              <a:path h="2145569" w="3894598">
                <a:moveTo>
                  <a:pt x="0" y="0"/>
                </a:moveTo>
                <a:lnTo>
                  <a:pt x="3894598" y="0"/>
                </a:lnTo>
                <a:lnTo>
                  <a:pt x="3894598" y="2145570"/>
                </a:lnTo>
                <a:lnTo>
                  <a:pt x="0" y="2145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30026" y="-230258"/>
            <a:ext cx="2115049" cy="2517916"/>
          </a:xfrm>
          <a:custGeom>
            <a:avLst/>
            <a:gdLst/>
            <a:ahLst/>
            <a:cxnLst/>
            <a:rect r="r" b="b" t="t" l="l"/>
            <a:pathLst>
              <a:path h="2517916" w="2115049">
                <a:moveTo>
                  <a:pt x="0" y="0"/>
                </a:moveTo>
                <a:lnTo>
                  <a:pt x="2115049" y="0"/>
                </a:lnTo>
                <a:lnTo>
                  <a:pt x="2115049" y="2517916"/>
                </a:lnTo>
                <a:lnTo>
                  <a:pt x="0" y="2517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825" y="8069560"/>
            <a:ext cx="2115049" cy="2517916"/>
          </a:xfrm>
          <a:custGeom>
            <a:avLst/>
            <a:gdLst/>
            <a:ahLst/>
            <a:cxnLst/>
            <a:rect r="r" b="b" t="t" l="l"/>
            <a:pathLst>
              <a:path h="2517916" w="2115049">
                <a:moveTo>
                  <a:pt x="0" y="0"/>
                </a:moveTo>
                <a:lnTo>
                  <a:pt x="2115050" y="0"/>
                </a:lnTo>
                <a:lnTo>
                  <a:pt x="2115050" y="2517916"/>
                </a:lnTo>
                <a:lnTo>
                  <a:pt x="0" y="2517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86225" y="2679134"/>
            <a:ext cx="15173075" cy="51573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367"/>
              </a:lnSpc>
            </a:pPr>
            <a:r>
              <a:rPr lang="en-US" b="true" sz="13105" spc="52">
                <a:solidFill>
                  <a:srgbClr val="FFDE59"/>
                </a:solidFill>
                <a:latin typeface="Libre Franklin Heavy"/>
                <a:ea typeface="Libre Franklin Heavy"/>
                <a:cs typeface="Libre Franklin Heavy"/>
                <a:sym typeface="Libre Franklin Heavy"/>
              </a:rPr>
              <a:t>EXCITING FOR OUR APPLICATION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922840">
            <a:off x="-580359" y="75859"/>
            <a:ext cx="2663583" cy="2334267"/>
          </a:xfrm>
          <a:custGeom>
            <a:avLst/>
            <a:gdLst/>
            <a:ahLst/>
            <a:cxnLst/>
            <a:rect r="r" b="b" t="t" l="l"/>
            <a:pathLst>
              <a:path h="2334267" w="2663583">
                <a:moveTo>
                  <a:pt x="0" y="0"/>
                </a:moveTo>
                <a:lnTo>
                  <a:pt x="2663583" y="0"/>
                </a:lnTo>
                <a:lnTo>
                  <a:pt x="2663583" y="2334267"/>
                </a:lnTo>
                <a:lnTo>
                  <a:pt x="0" y="2334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613952">
            <a:off x="15312001" y="7987076"/>
            <a:ext cx="3894598" cy="2145569"/>
          </a:xfrm>
          <a:custGeom>
            <a:avLst/>
            <a:gdLst/>
            <a:ahLst/>
            <a:cxnLst/>
            <a:rect r="r" b="b" t="t" l="l"/>
            <a:pathLst>
              <a:path h="2145569" w="3894598">
                <a:moveTo>
                  <a:pt x="0" y="0"/>
                </a:moveTo>
                <a:lnTo>
                  <a:pt x="3894598" y="0"/>
                </a:lnTo>
                <a:lnTo>
                  <a:pt x="3894598" y="2145570"/>
                </a:lnTo>
                <a:lnTo>
                  <a:pt x="0" y="2145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530026" y="-230258"/>
            <a:ext cx="2115049" cy="2517916"/>
          </a:xfrm>
          <a:custGeom>
            <a:avLst/>
            <a:gdLst/>
            <a:ahLst/>
            <a:cxnLst/>
            <a:rect r="r" b="b" t="t" l="l"/>
            <a:pathLst>
              <a:path h="2517916" w="2115049">
                <a:moveTo>
                  <a:pt x="0" y="0"/>
                </a:moveTo>
                <a:lnTo>
                  <a:pt x="2115049" y="0"/>
                </a:lnTo>
                <a:lnTo>
                  <a:pt x="2115049" y="2517916"/>
                </a:lnTo>
                <a:lnTo>
                  <a:pt x="0" y="2517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8825" y="8069560"/>
            <a:ext cx="2115049" cy="2517916"/>
          </a:xfrm>
          <a:custGeom>
            <a:avLst/>
            <a:gdLst/>
            <a:ahLst/>
            <a:cxnLst/>
            <a:rect r="r" b="b" t="t" l="l"/>
            <a:pathLst>
              <a:path h="2517916" w="2115049">
                <a:moveTo>
                  <a:pt x="0" y="0"/>
                </a:moveTo>
                <a:lnTo>
                  <a:pt x="2115050" y="0"/>
                </a:lnTo>
                <a:lnTo>
                  <a:pt x="2115050" y="2517916"/>
                </a:lnTo>
                <a:lnTo>
                  <a:pt x="0" y="25179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2148840" y="1500377"/>
            <a:ext cx="13990320" cy="82296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4035289" y="250376"/>
            <a:ext cx="10217423" cy="77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50"/>
              </a:lnSpc>
              <a:spcBef>
                <a:spcPct val="0"/>
              </a:spcBef>
            </a:pPr>
            <a:r>
              <a:rPr lang="en-US" sz="4607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VIDEO REPRESENTATION OF OUR APPLICATION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613952">
            <a:off x="15312001" y="7987076"/>
            <a:ext cx="3894598" cy="2145569"/>
          </a:xfrm>
          <a:custGeom>
            <a:avLst/>
            <a:gdLst/>
            <a:ahLst/>
            <a:cxnLst/>
            <a:rect r="r" b="b" t="t" l="l"/>
            <a:pathLst>
              <a:path h="2145569" w="3894598">
                <a:moveTo>
                  <a:pt x="0" y="0"/>
                </a:moveTo>
                <a:lnTo>
                  <a:pt x="3894598" y="0"/>
                </a:lnTo>
                <a:lnTo>
                  <a:pt x="3894598" y="2145570"/>
                </a:lnTo>
                <a:lnTo>
                  <a:pt x="0" y="214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434613">
            <a:off x="-1419711" y="7436763"/>
            <a:ext cx="3704166" cy="3246196"/>
          </a:xfrm>
          <a:custGeom>
            <a:avLst/>
            <a:gdLst/>
            <a:ahLst/>
            <a:cxnLst/>
            <a:rect r="r" b="b" t="t" l="l"/>
            <a:pathLst>
              <a:path h="3246196" w="3704166">
                <a:moveTo>
                  <a:pt x="0" y="0"/>
                </a:moveTo>
                <a:lnTo>
                  <a:pt x="3704166" y="0"/>
                </a:lnTo>
                <a:lnTo>
                  <a:pt x="3704166" y="3246196"/>
                </a:lnTo>
                <a:lnTo>
                  <a:pt x="0" y="3246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35507">
            <a:off x="15412562" y="-2056084"/>
            <a:ext cx="3693475" cy="4112169"/>
          </a:xfrm>
          <a:custGeom>
            <a:avLst/>
            <a:gdLst/>
            <a:ahLst/>
            <a:cxnLst/>
            <a:rect r="r" b="b" t="t" l="l"/>
            <a:pathLst>
              <a:path h="4112169" w="3693475">
                <a:moveTo>
                  <a:pt x="0" y="0"/>
                </a:moveTo>
                <a:lnTo>
                  <a:pt x="3693476" y="0"/>
                </a:lnTo>
                <a:lnTo>
                  <a:pt x="3693476" y="4112168"/>
                </a:lnTo>
                <a:lnTo>
                  <a:pt x="0" y="41121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11609597" y="8954017"/>
            <a:ext cx="1698068" cy="1332983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4440547" y="9278737"/>
            <a:ext cx="9406906" cy="913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419"/>
              </a:lnSpc>
            </a:pPr>
            <a:r>
              <a:rPr lang="en-US" sz="5299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OUR DASHBOARD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5046220" y="8858885"/>
            <a:ext cx="1698068" cy="1332983"/>
          </a:xfrm>
          <a:prstGeom prst="rect">
            <a:avLst/>
          </a:prstGeom>
        </p:spPr>
      </p:pic>
      <p:sp>
        <p:nvSpPr>
          <p:cNvPr name="Freeform 8" id="8"/>
          <p:cNvSpPr/>
          <p:nvPr/>
        </p:nvSpPr>
        <p:spPr>
          <a:xfrm flipH="false" flipV="false" rot="0">
            <a:off x="1343151" y="230029"/>
            <a:ext cx="15512550" cy="8628856"/>
          </a:xfrm>
          <a:custGeom>
            <a:avLst/>
            <a:gdLst/>
            <a:ahLst/>
            <a:cxnLst/>
            <a:rect r="r" b="b" t="t" l="l"/>
            <a:pathLst>
              <a:path h="8628856" w="15512550">
                <a:moveTo>
                  <a:pt x="0" y="0"/>
                </a:moveTo>
                <a:lnTo>
                  <a:pt x="15512550" y="0"/>
                </a:lnTo>
                <a:lnTo>
                  <a:pt x="15512550" y="8628856"/>
                </a:lnTo>
                <a:lnTo>
                  <a:pt x="0" y="86288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613952">
            <a:off x="15312001" y="7987076"/>
            <a:ext cx="3894598" cy="2145569"/>
          </a:xfrm>
          <a:custGeom>
            <a:avLst/>
            <a:gdLst/>
            <a:ahLst/>
            <a:cxnLst/>
            <a:rect r="r" b="b" t="t" l="l"/>
            <a:pathLst>
              <a:path h="2145569" w="3894598">
                <a:moveTo>
                  <a:pt x="0" y="0"/>
                </a:moveTo>
                <a:lnTo>
                  <a:pt x="3894598" y="0"/>
                </a:lnTo>
                <a:lnTo>
                  <a:pt x="3894598" y="2145570"/>
                </a:lnTo>
                <a:lnTo>
                  <a:pt x="0" y="214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434613">
            <a:off x="-1419711" y="7436763"/>
            <a:ext cx="3704166" cy="3246196"/>
          </a:xfrm>
          <a:custGeom>
            <a:avLst/>
            <a:gdLst/>
            <a:ahLst/>
            <a:cxnLst/>
            <a:rect r="r" b="b" t="t" l="l"/>
            <a:pathLst>
              <a:path h="3246196" w="3704166">
                <a:moveTo>
                  <a:pt x="0" y="0"/>
                </a:moveTo>
                <a:lnTo>
                  <a:pt x="3704166" y="0"/>
                </a:lnTo>
                <a:lnTo>
                  <a:pt x="3704166" y="3246196"/>
                </a:lnTo>
                <a:lnTo>
                  <a:pt x="0" y="32461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735507">
            <a:off x="15412562" y="-2056084"/>
            <a:ext cx="3693475" cy="4112169"/>
          </a:xfrm>
          <a:custGeom>
            <a:avLst/>
            <a:gdLst/>
            <a:ahLst/>
            <a:cxnLst/>
            <a:rect r="r" b="b" t="t" l="l"/>
            <a:pathLst>
              <a:path h="4112169" w="3693475">
                <a:moveTo>
                  <a:pt x="0" y="0"/>
                </a:moveTo>
                <a:lnTo>
                  <a:pt x="3693476" y="0"/>
                </a:lnTo>
                <a:lnTo>
                  <a:pt x="3693476" y="4112168"/>
                </a:lnTo>
                <a:lnTo>
                  <a:pt x="0" y="41121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11609597" y="8954017"/>
            <a:ext cx="1698068" cy="1332983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8"/>
          <a:srcRect l="0" t="0" r="0" b="0"/>
          <a:stretch>
            <a:fillRect/>
          </a:stretch>
        </p:blipFill>
        <p:spPr>
          <a:xfrm flipH="false" flipV="false" rot="0">
            <a:off x="5046220" y="8858885"/>
            <a:ext cx="1698068" cy="1332983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518075" y="2626123"/>
            <a:ext cx="12625133" cy="6035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41230" indent="-370615" lvl="1">
              <a:lnSpc>
                <a:spcPts val="4806"/>
              </a:lnSpc>
              <a:buFont typeface="Arial"/>
              <a:buChar char="•"/>
            </a:pPr>
            <a:r>
              <a:rPr lang="en-US" sz="3433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GOOGLE COLLAB FILE  HTTPS://COLAB.RESEARCH.GOOGLE.COM/DRIVE/1WSN9ILWL4Q4VFGBTGEUQBLFTWEL7KQCI?USP=SHARING DATASET AND RESARCH (KAGGLE)</a:t>
            </a:r>
          </a:p>
          <a:p>
            <a:pPr algn="l" marL="741230" indent="-370615" lvl="1">
              <a:lnSpc>
                <a:spcPts val="4806"/>
              </a:lnSpc>
              <a:buFont typeface="Arial"/>
              <a:buChar char="•"/>
            </a:pPr>
            <a:r>
              <a:rPr lang="en-US" sz="3433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 HTTPS://WWW.KAGGLE.COM/CODE/ASHISHPATEL26/CHEXNET RADIOLOGIST-LEVEL-PNEUMONIA-DETECTION/NOTEBOOK RSEARCH PAPER </a:t>
            </a:r>
          </a:p>
          <a:p>
            <a:pPr algn="l" marL="741230" indent="-370615" lvl="1">
              <a:lnSpc>
                <a:spcPts val="4806"/>
              </a:lnSpc>
              <a:buFont typeface="Arial"/>
              <a:buChar char="•"/>
            </a:pPr>
            <a:r>
              <a:rPr lang="en-US" sz="3433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HTTPS://BMCMEDIMAGING.BIOMEDCENTRAL.COM/ARTICLES/1 0.1186/S12880-023-01174-4 </a:t>
            </a:r>
          </a:p>
          <a:p>
            <a:pPr algn="l" marL="741230" indent="-370615" lvl="1">
              <a:lnSpc>
                <a:spcPts val="4806"/>
              </a:lnSpc>
              <a:buFont typeface="Arial"/>
              <a:buChar char="•"/>
            </a:pPr>
            <a:r>
              <a:rPr lang="en-US" sz="3433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FLOW CHART </a:t>
            </a:r>
          </a:p>
          <a:p>
            <a:pPr algn="l">
              <a:lnSpc>
                <a:spcPts val="4806"/>
              </a:lnSpc>
            </a:pPr>
            <a:r>
              <a:rPr lang="en-US" sz="3433">
                <a:solidFill>
                  <a:srgbClr val="C94827"/>
                </a:solidFill>
                <a:latin typeface="Hangyaboly"/>
                <a:ea typeface="Hangyaboly"/>
                <a:cs typeface="Hangyaboly"/>
                <a:sym typeface="Hangyaboly"/>
              </a:rPr>
              <a:t>    HTTPS://APP.DIAGRAMS.NET/-----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77447" y="885825"/>
            <a:ext cx="7434206" cy="1358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46"/>
              </a:lnSpc>
              <a:spcBef>
                <a:spcPct val="0"/>
              </a:spcBef>
            </a:pPr>
            <a:r>
              <a:rPr lang="en-US" sz="8033" b="true">
                <a:solidFill>
                  <a:srgbClr val="D13B5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References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3118812" y="3054678"/>
            <a:ext cx="4787355" cy="8124559"/>
          </a:xfrm>
          <a:custGeom>
            <a:avLst/>
            <a:gdLst/>
            <a:ahLst/>
            <a:cxnLst/>
            <a:rect r="r" b="b" t="t" l="l"/>
            <a:pathLst>
              <a:path h="8124559" w="4787355">
                <a:moveTo>
                  <a:pt x="0" y="0"/>
                </a:moveTo>
                <a:lnTo>
                  <a:pt x="4787354" y="0"/>
                </a:lnTo>
                <a:lnTo>
                  <a:pt x="4787354" y="8124560"/>
                </a:lnTo>
                <a:lnTo>
                  <a:pt x="0" y="81245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769084"/>
            <a:ext cx="2115049" cy="2517916"/>
          </a:xfrm>
          <a:custGeom>
            <a:avLst/>
            <a:gdLst/>
            <a:ahLst/>
            <a:cxnLst/>
            <a:rect r="r" b="b" t="t" l="l"/>
            <a:pathLst>
              <a:path h="2517916" w="2115049">
                <a:moveTo>
                  <a:pt x="0" y="0"/>
                </a:moveTo>
                <a:lnTo>
                  <a:pt x="2115049" y="0"/>
                </a:lnTo>
                <a:lnTo>
                  <a:pt x="2115049" y="2517916"/>
                </a:lnTo>
                <a:lnTo>
                  <a:pt x="0" y="25179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172088">
            <a:off x="15560321" y="8860357"/>
            <a:ext cx="2790951" cy="1537561"/>
          </a:xfrm>
          <a:custGeom>
            <a:avLst/>
            <a:gdLst/>
            <a:ahLst/>
            <a:cxnLst/>
            <a:rect r="r" b="b" t="t" l="l"/>
            <a:pathLst>
              <a:path h="1537561" w="2790951">
                <a:moveTo>
                  <a:pt x="0" y="0"/>
                </a:moveTo>
                <a:lnTo>
                  <a:pt x="2790952" y="0"/>
                </a:lnTo>
                <a:lnTo>
                  <a:pt x="2790952" y="1537560"/>
                </a:lnTo>
                <a:lnTo>
                  <a:pt x="0" y="15375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353240" y="0"/>
            <a:ext cx="2174771" cy="2589013"/>
          </a:xfrm>
          <a:custGeom>
            <a:avLst/>
            <a:gdLst/>
            <a:ahLst/>
            <a:cxnLst/>
            <a:rect r="r" b="b" t="t" l="l"/>
            <a:pathLst>
              <a:path h="2589013" w="2174771">
                <a:moveTo>
                  <a:pt x="0" y="0"/>
                </a:moveTo>
                <a:lnTo>
                  <a:pt x="2174771" y="0"/>
                </a:lnTo>
                <a:lnTo>
                  <a:pt x="2174771" y="2589013"/>
                </a:lnTo>
                <a:lnTo>
                  <a:pt x="0" y="25890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380225">
            <a:off x="-666384" y="80283"/>
            <a:ext cx="2478870" cy="2172391"/>
          </a:xfrm>
          <a:custGeom>
            <a:avLst/>
            <a:gdLst/>
            <a:ahLst/>
            <a:cxnLst/>
            <a:rect r="r" b="b" t="t" l="l"/>
            <a:pathLst>
              <a:path h="2172391" w="2478870">
                <a:moveTo>
                  <a:pt x="0" y="0"/>
                </a:moveTo>
                <a:lnTo>
                  <a:pt x="2478870" y="0"/>
                </a:lnTo>
                <a:lnTo>
                  <a:pt x="2478870" y="2172392"/>
                </a:lnTo>
                <a:lnTo>
                  <a:pt x="0" y="21723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739027" y="2660657"/>
            <a:ext cx="8701599" cy="4295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10"/>
              </a:lnSpc>
            </a:pPr>
            <a:r>
              <a:rPr lang="en-US" b="true" sz="10892" spc="43">
                <a:solidFill>
                  <a:srgbClr val="C94827"/>
                </a:solidFill>
                <a:latin typeface="Libre Franklin Heavy"/>
                <a:ea typeface="Libre Franklin Heavy"/>
                <a:cs typeface="Libre Franklin Heavy"/>
                <a:sym typeface="Libre Franklin Heavy"/>
              </a:rPr>
              <a:t>THANK YOU FOR LISTENING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57525" y="0"/>
            <a:ext cx="7328321" cy="13756234"/>
          </a:xfrm>
          <a:custGeom>
            <a:avLst/>
            <a:gdLst/>
            <a:ahLst/>
            <a:cxnLst/>
            <a:rect r="r" b="b" t="t" l="l"/>
            <a:pathLst>
              <a:path h="13756234" w="7328321">
                <a:moveTo>
                  <a:pt x="0" y="0"/>
                </a:moveTo>
                <a:lnTo>
                  <a:pt x="7328321" y="0"/>
                </a:lnTo>
                <a:lnTo>
                  <a:pt x="7328321" y="13756234"/>
                </a:lnTo>
                <a:lnTo>
                  <a:pt x="0" y="1375623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DAGkLqi_b4g</dc:identifier>
  <dcterms:modified xsi:type="dcterms:W3CDTF">2011-08-01T06:04:30Z</dcterms:modified>
  <cp:revision>1</cp:revision>
  <dc:title>HealthCareProject By Angad's Group</dc:title>
</cp:coreProperties>
</file>